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Canva Sans" panose="020B0604020202020204" charset="0"/>
      <p:regular r:id="rId10"/>
    </p:embeddedFont>
    <p:embeddedFont>
      <p:font typeface="Canva Sans Bold" panose="020B0604020202020204" charset="0"/>
      <p:regular r:id="rId11"/>
    </p:embeddedFont>
    <p:embeddedFont>
      <p:font typeface="TT Fors" panose="020B0604020202020204" charset="0"/>
      <p:regular r:id="rId12"/>
    </p:embeddedFont>
    <p:embeddedFont>
      <p:font typeface="TT Fors Bold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898" y="-53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-1362542" y="4123218"/>
            <a:ext cx="7441042" cy="6590268"/>
            <a:chOff x="0" y="0"/>
            <a:chExt cx="9921390" cy="8787024"/>
          </a:xfrm>
        </p:grpSpPr>
        <p:sp>
          <p:nvSpPr>
            <p:cNvPr id="4" name="Freeform 4"/>
            <p:cNvSpPr/>
            <p:nvPr/>
          </p:nvSpPr>
          <p:spPr>
            <a:xfrm rot="-10800000" flipH="1" flipV="1">
              <a:off x="0" y="5594140"/>
              <a:ext cx="9921390" cy="3192884"/>
            </a:xfrm>
            <a:custGeom>
              <a:avLst/>
              <a:gdLst/>
              <a:ahLst/>
              <a:cxnLst/>
              <a:rect l="l" t="t" r="r" b="b"/>
              <a:pathLst>
                <a:path w="9921390" h="3192884">
                  <a:moveTo>
                    <a:pt x="9921390" y="3192884"/>
                  </a:moveTo>
                  <a:lnTo>
                    <a:pt x="0" y="3192884"/>
                  </a:lnTo>
                  <a:lnTo>
                    <a:pt x="0" y="0"/>
                  </a:lnTo>
                  <a:lnTo>
                    <a:pt x="9921390" y="0"/>
                  </a:lnTo>
                  <a:lnTo>
                    <a:pt x="9921390" y="3192884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5" name="Group 5"/>
            <p:cNvGrpSpPr/>
            <p:nvPr/>
          </p:nvGrpSpPr>
          <p:grpSpPr>
            <a:xfrm rot="-5400000">
              <a:off x="755161" y="1370491"/>
              <a:ext cx="3009241" cy="1257089"/>
              <a:chOff x="0" y="0"/>
              <a:chExt cx="406400" cy="16977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93C4F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 rot="-5400000">
              <a:off x="161273" y="3889360"/>
              <a:ext cx="4197018" cy="1257089"/>
              <a:chOff x="0" y="0"/>
              <a:chExt cx="566810" cy="16977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56681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566810" h="169771">
                    <a:moveTo>
                      <a:pt x="36361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566810" y="169771"/>
                    </a:lnTo>
                    <a:lnTo>
                      <a:pt x="363610" y="0"/>
                    </a:lnTo>
                    <a:close/>
                  </a:path>
                </a:pathLst>
              </a:custGeom>
              <a:solidFill>
                <a:srgbClr val="C2E1FE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01600" y="-57150"/>
                <a:ext cx="36361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 rot="-5400000">
              <a:off x="867105" y="581976"/>
              <a:ext cx="1999035" cy="835083"/>
              <a:chOff x="0" y="0"/>
              <a:chExt cx="406400" cy="169771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3A73AE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sp>
          <p:nvSpPr>
            <p:cNvPr id="14" name="Freeform 14"/>
            <p:cNvSpPr/>
            <p:nvPr/>
          </p:nvSpPr>
          <p:spPr>
            <a:xfrm>
              <a:off x="962259" y="999518"/>
              <a:ext cx="1926067" cy="3192884"/>
            </a:xfrm>
            <a:custGeom>
              <a:avLst/>
              <a:gdLst/>
              <a:ahLst/>
              <a:cxnLst/>
              <a:rect l="l" t="t" r="r" b="b"/>
              <a:pathLst>
                <a:path w="1926067" h="3192884">
                  <a:moveTo>
                    <a:pt x="0" y="0"/>
                  </a:moveTo>
                  <a:lnTo>
                    <a:pt x="1926067" y="0"/>
                  </a:lnTo>
                  <a:lnTo>
                    <a:pt x="1926067" y="3192883"/>
                  </a:lnTo>
                  <a:lnTo>
                    <a:pt x="0" y="3192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r="-415111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209500" y="-426486"/>
            <a:ext cx="7441042" cy="6590268"/>
            <a:chOff x="0" y="0"/>
            <a:chExt cx="9921390" cy="8787024"/>
          </a:xfrm>
        </p:grpSpPr>
        <p:sp>
          <p:nvSpPr>
            <p:cNvPr id="16" name="Freeform 16"/>
            <p:cNvSpPr/>
            <p:nvPr/>
          </p:nvSpPr>
          <p:spPr>
            <a:xfrm flipH="1" flipV="1">
              <a:off x="0" y="0"/>
              <a:ext cx="9921390" cy="3192884"/>
            </a:xfrm>
            <a:custGeom>
              <a:avLst/>
              <a:gdLst/>
              <a:ahLst/>
              <a:cxnLst/>
              <a:rect l="l" t="t" r="r" b="b"/>
              <a:pathLst>
                <a:path w="9921390" h="3192884">
                  <a:moveTo>
                    <a:pt x="9921390" y="3192884"/>
                  </a:moveTo>
                  <a:lnTo>
                    <a:pt x="0" y="3192884"/>
                  </a:lnTo>
                  <a:lnTo>
                    <a:pt x="0" y="0"/>
                  </a:lnTo>
                  <a:lnTo>
                    <a:pt x="9921390" y="0"/>
                  </a:lnTo>
                  <a:lnTo>
                    <a:pt x="9921390" y="3192884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17" name="Group 17"/>
            <p:cNvGrpSpPr/>
            <p:nvPr/>
          </p:nvGrpSpPr>
          <p:grpSpPr>
            <a:xfrm rot="5400000">
              <a:off x="6156988" y="6159444"/>
              <a:ext cx="3009241" cy="1257089"/>
              <a:chOff x="0" y="0"/>
              <a:chExt cx="406400" cy="169771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93C4F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 rot="5400000">
              <a:off x="5563099" y="3640576"/>
              <a:ext cx="4197018" cy="1257089"/>
              <a:chOff x="0" y="0"/>
              <a:chExt cx="566810" cy="169771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56681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566810" h="169771">
                    <a:moveTo>
                      <a:pt x="36361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566810" y="169771"/>
                    </a:lnTo>
                    <a:lnTo>
                      <a:pt x="363610" y="0"/>
                    </a:lnTo>
                    <a:close/>
                  </a:path>
                </a:pathLst>
              </a:custGeom>
              <a:solidFill>
                <a:srgbClr val="C2E1FE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01600" y="-57150"/>
                <a:ext cx="36361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 rot="5400000">
              <a:off x="7055249" y="7369965"/>
              <a:ext cx="1999035" cy="835083"/>
              <a:chOff x="0" y="0"/>
              <a:chExt cx="406400" cy="169771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3A73AE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sp>
          <p:nvSpPr>
            <p:cNvPr id="26" name="Freeform 26"/>
            <p:cNvSpPr/>
            <p:nvPr/>
          </p:nvSpPr>
          <p:spPr>
            <a:xfrm rot="-10800000">
              <a:off x="7033064" y="4594623"/>
              <a:ext cx="1926067" cy="3192884"/>
            </a:xfrm>
            <a:custGeom>
              <a:avLst/>
              <a:gdLst/>
              <a:ahLst/>
              <a:cxnLst/>
              <a:rect l="l" t="t" r="r" b="b"/>
              <a:pathLst>
                <a:path w="1926067" h="3192884">
                  <a:moveTo>
                    <a:pt x="0" y="0"/>
                  </a:moveTo>
                  <a:lnTo>
                    <a:pt x="1926067" y="0"/>
                  </a:lnTo>
                  <a:lnTo>
                    <a:pt x="1926067" y="3192883"/>
                  </a:lnTo>
                  <a:lnTo>
                    <a:pt x="0" y="3192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r="-415111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7" name="Freeform 27"/>
          <p:cNvSpPr/>
          <p:nvPr/>
        </p:nvSpPr>
        <p:spPr>
          <a:xfrm rot="-1947032">
            <a:off x="-34300695" y="5351059"/>
            <a:ext cx="41083903" cy="7247578"/>
          </a:xfrm>
          <a:custGeom>
            <a:avLst/>
            <a:gdLst/>
            <a:ahLst/>
            <a:cxnLst/>
            <a:rect l="l" t="t" r="r" b="b"/>
            <a:pathLst>
              <a:path w="41083903" h="7247578">
                <a:moveTo>
                  <a:pt x="0" y="0"/>
                </a:moveTo>
                <a:lnTo>
                  <a:pt x="41083903" y="0"/>
                </a:lnTo>
                <a:lnTo>
                  <a:pt x="41083903" y="7247578"/>
                </a:lnTo>
                <a:lnTo>
                  <a:pt x="0" y="724757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8" name="Freeform 28"/>
          <p:cNvSpPr/>
          <p:nvPr/>
        </p:nvSpPr>
        <p:spPr>
          <a:xfrm rot="-1947032" flipH="1" flipV="1">
            <a:off x="11504792" y="-2311637"/>
            <a:ext cx="41083903" cy="7247578"/>
          </a:xfrm>
          <a:custGeom>
            <a:avLst/>
            <a:gdLst/>
            <a:ahLst/>
            <a:cxnLst/>
            <a:rect l="l" t="t" r="r" b="b"/>
            <a:pathLst>
              <a:path w="41083903" h="7247578">
                <a:moveTo>
                  <a:pt x="41083903" y="7247578"/>
                </a:moveTo>
                <a:lnTo>
                  <a:pt x="0" y="7247578"/>
                </a:lnTo>
                <a:lnTo>
                  <a:pt x="0" y="0"/>
                </a:lnTo>
                <a:lnTo>
                  <a:pt x="41083903" y="0"/>
                </a:lnTo>
                <a:lnTo>
                  <a:pt x="41083903" y="7247578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Box 29"/>
          <p:cNvSpPr txBox="1"/>
          <p:nvPr/>
        </p:nvSpPr>
        <p:spPr>
          <a:xfrm>
            <a:off x="1182505" y="1035927"/>
            <a:ext cx="15922990" cy="6067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6141"/>
              </a:lnSpc>
            </a:pPr>
            <a:r>
              <a:rPr lang="en-US" sz="11132" b="1">
                <a:solidFill>
                  <a:srgbClr val="3A73AE"/>
                </a:solidFill>
                <a:latin typeface="TT Fors Bold"/>
                <a:ea typeface="TT Fors Bold"/>
                <a:cs typeface="TT Fors Bold"/>
                <a:sym typeface="TT Fors Bold"/>
              </a:rPr>
              <a:t>RETAIL PERFORMANCE SNAPSHOT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078500" y="7323102"/>
            <a:ext cx="6536864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49"/>
              </a:lnSpc>
            </a:pPr>
            <a:r>
              <a:rPr lang="en-US" sz="3499">
                <a:solidFill>
                  <a:srgbClr val="0F1C29"/>
                </a:solidFill>
                <a:latin typeface="TT Fors"/>
                <a:ea typeface="TT Fors"/>
                <a:cs typeface="TT Fors"/>
                <a:sym typeface="TT Fors"/>
              </a:rPr>
              <a:t>by Data Avengers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-1362542" y="4123218"/>
            <a:ext cx="7441042" cy="6590268"/>
            <a:chOff x="0" y="0"/>
            <a:chExt cx="9921390" cy="8787024"/>
          </a:xfrm>
        </p:grpSpPr>
        <p:sp>
          <p:nvSpPr>
            <p:cNvPr id="4" name="Freeform 4"/>
            <p:cNvSpPr/>
            <p:nvPr/>
          </p:nvSpPr>
          <p:spPr>
            <a:xfrm rot="-10800000" flipH="1" flipV="1">
              <a:off x="0" y="5594140"/>
              <a:ext cx="9921390" cy="3192884"/>
            </a:xfrm>
            <a:custGeom>
              <a:avLst/>
              <a:gdLst/>
              <a:ahLst/>
              <a:cxnLst/>
              <a:rect l="l" t="t" r="r" b="b"/>
              <a:pathLst>
                <a:path w="9921390" h="3192884">
                  <a:moveTo>
                    <a:pt x="9921390" y="3192884"/>
                  </a:moveTo>
                  <a:lnTo>
                    <a:pt x="0" y="3192884"/>
                  </a:lnTo>
                  <a:lnTo>
                    <a:pt x="0" y="0"/>
                  </a:lnTo>
                  <a:lnTo>
                    <a:pt x="9921390" y="0"/>
                  </a:lnTo>
                  <a:lnTo>
                    <a:pt x="9921390" y="3192884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5" name="Group 5"/>
            <p:cNvGrpSpPr/>
            <p:nvPr/>
          </p:nvGrpSpPr>
          <p:grpSpPr>
            <a:xfrm rot="-5400000">
              <a:off x="755161" y="1370491"/>
              <a:ext cx="3009241" cy="1257089"/>
              <a:chOff x="0" y="0"/>
              <a:chExt cx="406400" cy="16977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93C4F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 rot="-5400000">
              <a:off x="161273" y="3889360"/>
              <a:ext cx="4197018" cy="1257089"/>
              <a:chOff x="0" y="0"/>
              <a:chExt cx="566810" cy="16977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56681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566810" h="169771">
                    <a:moveTo>
                      <a:pt x="36361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566810" y="169771"/>
                    </a:lnTo>
                    <a:lnTo>
                      <a:pt x="363610" y="0"/>
                    </a:lnTo>
                    <a:close/>
                  </a:path>
                </a:pathLst>
              </a:custGeom>
              <a:solidFill>
                <a:srgbClr val="C2E1FE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01600" y="-57150"/>
                <a:ext cx="36361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 rot="-5400000">
              <a:off x="867105" y="581976"/>
              <a:ext cx="1999035" cy="835083"/>
              <a:chOff x="0" y="0"/>
              <a:chExt cx="406400" cy="169771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3A73AE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sp>
          <p:nvSpPr>
            <p:cNvPr id="14" name="Freeform 14"/>
            <p:cNvSpPr/>
            <p:nvPr/>
          </p:nvSpPr>
          <p:spPr>
            <a:xfrm>
              <a:off x="962259" y="999518"/>
              <a:ext cx="1926067" cy="3192884"/>
            </a:xfrm>
            <a:custGeom>
              <a:avLst/>
              <a:gdLst/>
              <a:ahLst/>
              <a:cxnLst/>
              <a:rect l="l" t="t" r="r" b="b"/>
              <a:pathLst>
                <a:path w="1926067" h="3192884">
                  <a:moveTo>
                    <a:pt x="0" y="0"/>
                  </a:moveTo>
                  <a:lnTo>
                    <a:pt x="1926067" y="0"/>
                  </a:lnTo>
                  <a:lnTo>
                    <a:pt x="1926067" y="3192883"/>
                  </a:lnTo>
                  <a:lnTo>
                    <a:pt x="0" y="3192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r="-415111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209500" y="-426486"/>
            <a:ext cx="7441042" cy="6590268"/>
            <a:chOff x="0" y="0"/>
            <a:chExt cx="9921390" cy="8787024"/>
          </a:xfrm>
        </p:grpSpPr>
        <p:sp>
          <p:nvSpPr>
            <p:cNvPr id="16" name="Freeform 16"/>
            <p:cNvSpPr/>
            <p:nvPr/>
          </p:nvSpPr>
          <p:spPr>
            <a:xfrm flipH="1" flipV="1">
              <a:off x="0" y="0"/>
              <a:ext cx="9921390" cy="3192884"/>
            </a:xfrm>
            <a:custGeom>
              <a:avLst/>
              <a:gdLst/>
              <a:ahLst/>
              <a:cxnLst/>
              <a:rect l="l" t="t" r="r" b="b"/>
              <a:pathLst>
                <a:path w="9921390" h="3192884">
                  <a:moveTo>
                    <a:pt x="9921390" y="3192884"/>
                  </a:moveTo>
                  <a:lnTo>
                    <a:pt x="0" y="3192884"/>
                  </a:lnTo>
                  <a:lnTo>
                    <a:pt x="0" y="0"/>
                  </a:lnTo>
                  <a:lnTo>
                    <a:pt x="9921390" y="0"/>
                  </a:lnTo>
                  <a:lnTo>
                    <a:pt x="9921390" y="3192884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17" name="Group 17"/>
            <p:cNvGrpSpPr/>
            <p:nvPr/>
          </p:nvGrpSpPr>
          <p:grpSpPr>
            <a:xfrm rot="5400000">
              <a:off x="6156988" y="6159444"/>
              <a:ext cx="3009241" cy="1257089"/>
              <a:chOff x="0" y="0"/>
              <a:chExt cx="406400" cy="169771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93C4F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 rot="5400000">
              <a:off x="5563099" y="3640576"/>
              <a:ext cx="4197018" cy="1257089"/>
              <a:chOff x="0" y="0"/>
              <a:chExt cx="566810" cy="169771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56681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566810" h="169771">
                    <a:moveTo>
                      <a:pt x="36361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566810" y="169771"/>
                    </a:lnTo>
                    <a:lnTo>
                      <a:pt x="363610" y="0"/>
                    </a:lnTo>
                    <a:close/>
                  </a:path>
                </a:pathLst>
              </a:custGeom>
              <a:solidFill>
                <a:srgbClr val="C2E1FE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01600" y="-57150"/>
                <a:ext cx="36361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 rot="5400000">
              <a:off x="7055249" y="7369965"/>
              <a:ext cx="1999035" cy="835083"/>
              <a:chOff x="0" y="0"/>
              <a:chExt cx="406400" cy="169771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3A73AE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sp>
          <p:nvSpPr>
            <p:cNvPr id="26" name="Freeform 26"/>
            <p:cNvSpPr/>
            <p:nvPr/>
          </p:nvSpPr>
          <p:spPr>
            <a:xfrm rot="-10800000">
              <a:off x="7033064" y="4594623"/>
              <a:ext cx="1926067" cy="3192884"/>
            </a:xfrm>
            <a:custGeom>
              <a:avLst/>
              <a:gdLst/>
              <a:ahLst/>
              <a:cxnLst/>
              <a:rect l="l" t="t" r="r" b="b"/>
              <a:pathLst>
                <a:path w="1926067" h="3192884">
                  <a:moveTo>
                    <a:pt x="0" y="0"/>
                  </a:moveTo>
                  <a:lnTo>
                    <a:pt x="1926067" y="0"/>
                  </a:lnTo>
                  <a:lnTo>
                    <a:pt x="1926067" y="3192883"/>
                  </a:lnTo>
                  <a:lnTo>
                    <a:pt x="0" y="3192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r="-415111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7" name="Freeform 27"/>
          <p:cNvSpPr/>
          <p:nvPr/>
        </p:nvSpPr>
        <p:spPr>
          <a:xfrm rot="-1947032">
            <a:off x="-34300695" y="5351059"/>
            <a:ext cx="41083903" cy="7247578"/>
          </a:xfrm>
          <a:custGeom>
            <a:avLst/>
            <a:gdLst/>
            <a:ahLst/>
            <a:cxnLst/>
            <a:rect l="l" t="t" r="r" b="b"/>
            <a:pathLst>
              <a:path w="41083903" h="7247578">
                <a:moveTo>
                  <a:pt x="0" y="0"/>
                </a:moveTo>
                <a:lnTo>
                  <a:pt x="41083903" y="0"/>
                </a:lnTo>
                <a:lnTo>
                  <a:pt x="41083903" y="7247578"/>
                </a:lnTo>
                <a:lnTo>
                  <a:pt x="0" y="724757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8" name="Freeform 28"/>
          <p:cNvSpPr/>
          <p:nvPr/>
        </p:nvSpPr>
        <p:spPr>
          <a:xfrm rot="-1947032" flipH="1" flipV="1">
            <a:off x="11504792" y="-2311637"/>
            <a:ext cx="41083903" cy="7247578"/>
          </a:xfrm>
          <a:custGeom>
            <a:avLst/>
            <a:gdLst/>
            <a:ahLst/>
            <a:cxnLst/>
            <a:rect l="l" t="t" r="r" b="b"/>
            <a:pathLst>
              <a:path w="41083903" h="7247578">
                <a:moveTo>
                  <a:pt x="41083903" y="7247578"/>
                </a:moveTo>
                <a:lnTo>
                  <a:pt x="0" y="7247578"/>
                </a:lnTo>
                <a:lnTo>
                  <a:pt x="0" y="0"/>
                </a:lnTo>
                <a:lnTo>
                  <a:pt x="41083903" y="0"/>
                </a:lnTo>
                <a:lnTo>
                  <a:pt x="41083903" y="7247578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Box 29"/>
          <p:cNvSpPr txBox="1"/>
          <p:nvPr/>
        </p:nvSpPr>
        <p:spPr>
          <a:xfrm>
            <a:off x="1182505" y="1927941"/>
            <a:ext cx="15922990" cy="1323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875"/>
              </a:lnSpc>
            </a:pPr>
            <a:r>
              <a:rPr lang="en-US" sz="7500" b="1">
                <a:solidFill>
                  <a:srgbClr val="3A73AE"/>
                </a:solidFill>
                <a:latin typeface="TT Fors Bold"/>
                <a:ea typeface="TT Fors Bold"/>
                <a:cs typeface="TT Fors Bold"/>
                <a:sym typeface="TT Fors Bold"/>
              </a:rPr>
              <a:t>PROBLEM 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290370" y="3680111"/>
            <a:ext cx="9923998" cy="1826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49"/>
              </a:lnSpc>
            </a:pPr>
            <a:r>
              <a:rPr lang="en-US" sz="3299">
                <a:solidFill>
                  <a:srgbClr val="0F1C29"/>
                </a:solidFill>
                <a:latin typeface="TT Fors"/>
                <a:ea typeface="TT Fors"/>
                <a:cs typeface="TT Fors"/>
                <a:sym typeface="TT Fors"/>
              </a:rPr>
              <a:t>Retail leaders need a quick way to understand sales performance, profitability, and regional demand.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073633" y="3594386"/>
            <a:ext cx="2013062" cy="1323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875"/>
              </a:lnSpc>
            </a:pPr>
            <a:r>
              <a:rPr lang="en-US" sz="7500" b="1">
                <a:solidFill>
                  <a:srgbClr val="3A73AE"/>
                </a:solidFill>
                <a:latin typeface="TT Fors Bold"/>
                <a:ea typeface="TT Fors Bold"/>
                <a:cs typeface="TT Fors Bold"/>
                <a:sym typeface="TT Fors Bold"/>
              </a:rPr>
              <a:t>01.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290370" y="5741952"/>
            <a:ext cx="9923998" cy="2819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2999">
                <a:solidFill>
                  <a:srgbClr val="0F1C29"/>
                </a:solidFill>
                <a:latin typeface="TT Fors"/>
                <a:ea typeface="TT Fors"/>
                <a:cs typeface="TT Fors"/>
                <a:sym typeface="TT Fors"/>
              </a:rPr>
              <a:t>Why it matters - </a:t>
            </a:r>
          </a:p>
          <a:p>
            <a:pPr algn="l">
              <a:lnSpc>
                <a:spcPts val="4499"/>
              </a:lnSpc>
            </a:pPr>
            <a:r>
              <a:rPr lang="en-US" sz="2999">
                <a:solidFill>
                  <a:srgbClr val="0F1C29"/>
                </a:solidFill>
                <a:latin typeface="TT Fors"/>
                <a:ea typeface="TT Fors"/>
                <a:cs typeface="TT Fors"/>
                <a:sym typeface="TT Fors"/>
              </a:rPr>
              <a:t>Without clear insights, it becomes difficult to identify profitable products, high-performing regions, and the impact of discounts on profitability.</a:t>
            </a:r>
          </a:p>
          <a:p>
            <a:pPr algn="l">
              <a:lnSpc>
                <a:spcPts val="4499"/>
              </a:lnSpc>
            </a:pPr>
            <a:endParaRPr lang="en-US" sz="2999">
              <a:solidFill>
                <a:srgbClr val="0F1C29"/>
              </a:solidFill>
              <a:latin typeface="TT Fors"/>
              <a:ea typeface="TT Fors"/>
              <a:cs typeface="TT Fors"/>
              <a:sym typeface="TT Fors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3073633" y="5637177"/>
            <a:ext cx="2013062" cy="1323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875"/>
              </a:lnSpc>
            </a:pPr>
            <a:r>
              <a:rPr lang="en-US" sz="7500" b="1">
                <a:solidFill>
                  <a:srgbClr val="3A73AE"/>
                </a:solidFill>
                <a:latin typeface="TT Fors Bold"/>
                <a:ea typeface="TT Fors Bold"/>
                <a:cs typeface="TT Fors Bold"/>
                <a:sym typeface="TT Fors Bold"/>
              </a:rPr>
              <a:t>02.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-1362542" y="4123218"/>
            <a:ext cx="7441042" cy="6590268"/>
            <a:chOff x="0" y="0"/>
            <a:chExt cx="9921390" cy="8787024"/>
          </a:xfrm>
        </p:grpSpPr>
        <p:sp>
          <p:nvSpPr>
            <p:cNvPr id="4" name="Freeform 4"/>
            <p:cNvSpPr/>
            <p:nvPr/>
          </p:nvSpPr>
          <p:spPr>
            <a:xfrm rot="-10800000" flipH="1" flipV="1">
              <a:off x="0" y="5594140"/>
              <a:ext cx="9921390" cy="3192884"/>
            </a:xfrm>
            <a:custGeom>
              <a:avLst/>
              <a:gdLst/>
              <a:ahLst/>
              <a:cxnLst/>
              <a:rect l="l" t="t" r="r" b="b"/>
              <a:pathLst>
                <a:path w="9921390" h="3192884">
                  <a:moveTo>
                    <a:pt x="9921390" y="3192884"/>
                  </a:moveTo>
                  <a:lnTo>
                    <a:pt x="0" y="3192884"/>
                  </a:lnTo>
                  <a:lnTo>
                    <a:pt x="0" y="0"/>
                  </a:lnTo>
                  <a:lnTo>
                    <a:pt x="9921390" y="0"/>
                  </a:lnTo>
                  <a:lnTo>
                    <a:pt x="9921390" y="3192884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5" name="Group 5"/>
            <p:cNvGrpSpPr/>
            <p:nvPr/>
          </p:nvGrpSpPr>
          <p:grpSpPr>
            <a:xfrm rot="-5400000">
              <a:off x="755161" y="1370491"/>
              <a:ext cx="3009241" cy="1257089"/>
              <a:chOff x="0" y="0"/>
              <a:chExt cx="406400" cy="16977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93C4F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 rot="-5400000">
              <a:off x="161273" y="3889360"/>
              <a:ext cx="4197018" cy="1257089"/>
              <a:chOff x="0" y="0"/>
              <a:chExt cx="566810" cy="16977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56681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566810" h="169771">
                    <a:moveTo>
                      <a:pt x="36361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566810" y="169771"/>
                    </a:lnTo>
                    <a:lnTo>
                      <a:pt x="363610" y="0"/>
                    </a:lnTo>
                    <a:close/>
                  </a:path>
                </a:pathLst>
              </a:custGeom>
              <a:solidFill>
                <a:srgbClr val="C2E1FE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01600" y="-57150"/>
                <a:ext cx="36361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 rot="-5400000">
              <a:off x="867105" y="581976"/>
              <a:ext cx="1999035" cy="835083"/>
              <a:chOff x="0" y="0"/>
              <a:chExt cx="406400" cy="169771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3A73AE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sp>
          <p:nvSpPr>
            <p:cNvPr id="14" name="Freeform 14"/>
            <p:cNvSpPr/>
            <p:nvPr/>
          </p:nvSpPr>
          <p:spPr>
            <a:xfrm>
              <a:off x="962259" y="999518"/>
              <a:ext cx="1926067" cy="3192884"/>
            </a:xfrm>
            <a:custGeom>
              <a:avLst/>
              <a:gdLst/>
              <a:ahLst/>
              <a:cxnLst/>
              <a:rect l="l" t="t" r="r" b="b"/>
              <a:pathLst>
                <a:path w="1926067" h="3192884">
                  <a:moveTo>
                    <a:pt x="0" y="0"/>
                  </a:moveTo>
                  <a:lnTo>
                    <a:pt x="1926067" y="0"/>
                  </a:lnTo>
                  <a:lnTo>
                    <a:pt x="1926067" y="3192883"/>
                  </a:lnTo>
                  <a:lnTo>
                    <a:pt x="0" y="3192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r="-415111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209500" y="-426486"/>
            <a:ext cx="7441042" cy="6590268"/>
            <a:chOff x="0" y="0"/>
            <a:chExt cx="9921390" cy="8787024"/>
          </a:xfrm>
        </p:grpSpPr>
        <p:sp>
          <p:nvSpPr>
            <p:cNvPr id="16" name="Freeform 16"/>
            <p:cNvSpPr/>
            <p:nvPr/>
          </p:nvSpPr>
          <p:spPr>
            <a:xfrm flipH="1" flipV="1">
              <a:off x="0" y="0"/>
              <a:ext cx="9921390" cy="3192884"/>
            </a:xfrm>
            <a:custGeom>
              <a:avLst/>
              <a:gdLst/>
              <a:ahLst/>
              <a:cxnLst/>
              <a:rect l="l" t="t" r="r" b="b"/>
              <a:pathLst>
                <a:path w="9921390" h="3192884">
                  <a:moveTo>
                    <a:pt x="9921390" y="3192884"/>
                  </a:moveTo>
                  <a:lnTo>
                    <a:pt x="0" y="3192884"/>
                  </a:lnTo>
                  <a:lnTo>
                    <a:pt x="0" y="0"/>
                  </a:lnTo>
                  <a:lnTo>
                    <a:pt x="9921390" y="0"/>
                  </a:lnTo>
                  <a:lnTo>
                    <a:pt x="9921390" y="3192884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17" name="Group 17"/>
            <p:cNvGrpSpPr/>
            <p:nvPr/>
          </p:nvGrpSpPr>
          <p:grpSpPr>
            <a:xfrm rot="5400000">
              <a:off x="6156988" y="6159444"/>
              <a:ext cx="3009241" cy="1257089"/>
              <a:chOff x="0" y="0"/>
              <a:chExt cx="406400" cy="169771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93C4F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 rot="5400000">
              <a:off x="5563099" y="3640576"/>
              <a:ext cx="4197018" cy="1257089"/>
              <a:chOff x="0" y="0"/>
              <a:chExt cx="566810" cy="169771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56681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566810" h="169771">
                    <a:moveTo>
                      <a:pt x="36361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566810" y="169771"/>
                    </a:lnTo>
                    <a:lnTo>
                      <a:pt x="363610" y="0"/>
                    </a:lnTo>
                    <a:close/>
                  </a:path>
                </a:pathLst>
              </a:custGeom>
              <a:solidFill>
                <a:srgbClr val="C2E1FE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01600" y="-57150"/>
                <a:ext cx="36361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 rot="5400000">
              <a:off x="7055249" y="7369965"/>
              <a:ext cx="1999035" cy="835083"/>
              <a:chOff x="0" y="0"/>
              <a:chExt cx="406400" cy="169771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3A73AE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sp>
          <p:nvSpPr>
            <p:cNvPr id="26" name="Freeform 26"/>
            <p:cNvSpPr/>
            <p:nvPr/>
          </p:nvSpPr>
          <p:spPr>
            <a:xfrm rot="-10800000">
              <a:off x="7033064" y="4594623"/>
              <a:ext cx="1926067" cy="3192884"/>
            </a:xfrm>
            <a:custGeom>
              <a:avLst/>
              <a:gdLst/>
              <a:ahLst/>
              <a:cxnLst/>
              <a:rect l="l" t="t" r="r" b="b"/>
              <a:pathLst>
                <a:path w="1926067" h="3192884">
                  <a:moveTo>
                    <a:pt x="0" y="0"/>
                  </a:moveTo>
                  <a:lnTo>
                    <a:pt x="1926067" y="0"/>
                  </a:lnTo>
                  <a:lnTo>
                    <a:pt x="1926067" y="3192883"/>
                  </a:lnTo>
                  <a:lnTo>
                    <a:pt x="0" y="3192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r="-415111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7" name="Freeform 27"/>
          <p:cNvSpPr/>
          <p:nvPr/>
        </p:nvSpPr>
        <p:spPr>
          <a:xfrm rot="-1947032">
            <a:off x="-34300695" y="5351059"/>
            <a:ext cx="41083903" cy="7247578"/>
          </a:xfrm>
          <a:custGeom>
            <a:avLst/>
            <a:gdLst/>
            <a:ahLst/>
            <a:cxnLst/>
            <a:rect l="l" t="t" r="r" b="b"/>
            <a:pathLst>
              <a:path w="41083903" h="7247578">
                <a:moveTo>
                  <a:pt x="0" y="0"/>
                </a:moveTo>
                <a:lnTo>
                  <a:pt x="41083903" y="0"/>
                </a:lnTo>
                <a:lnTo>
                  <a:pt x="41083903" y="7247578"/>
                </a:lnTo>
                <a:lnTo>
                  <a:pt x="0" y="724757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8" name="Freeform 28"/>
          <p:cNvSpPr/>
          <p:nvPr/>
        </p:nvSpPr>
        <p:spPr>
          <a:xfrm rot="-1947032" flipH="1" flipV="1">
            <a:off x="11504792" y="-2311637"/>
            <a:ext cx="41083903" cy="7247578"/>
          </a:xfrm>
          <a:custGeom>
            <a:avLst/>
            <a:gdLst/>
            <a:ahLst/>
            <a:cxnLst/>
            <a:rect l="l" t="t" r="r" b="b"/>
            <a:pathLst>
              <a:path w="41083903" h="7247578">
                <a:moveTo>
                  <a:pt x="41083903" y="7247578"/>
                </a:moveTo>
                <a:lnTo>
                  <a:pt x="0" y="7247578"/>
                </a:lnTo>
                <a:lnTo>
                  <a:pt x="0" y="0"/>
                </a:lnTo>
                <a:lnTo>
                  <a:pt x="41083903" y="0"/>
                </a:lnTo>
                <a:lnTo>
                  <a:pt x="41083903" y="7247578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Box 29"/>
          <p:cNvSpPr txBox="1"/>
          <p:nvPr/>
        </p:nvSpPr>
        <p:spPr>
          <a:xfrm>
            <a:off x="1182505" y="1585948"/>
            <a:ext cx="15922990" cy="1282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585"/>
              </a:lnSpc>
            </a:pPr>
            <a:r>
              <a:rPr lang="en-US" sz="7300" b="1">
                <a:solidFill>
                  <a:srgbClr val="3A73AE"/>
                </a:solidFill>
                <a:latin typeface="TT Fors Bold"/>
                <a:ea typeface="TT Fors Bold"/>
                <a:cs typeface="TT Fors Bold"/>
                <a:sym typeface="TT Fors Bold"/>
              </a:rPr>
              <a:t>KEY PERFORMANCE INDICATORS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705635" y="4113389"/>
            <a:ext cx="4512710" cy="1694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41"/>
              </a:lnSpc>
            </a:pPr>
            <a:r>
              <a:rPr lang="en-US" sz="3027">
                <a:solidFill>
                  <a:srgbClr val="0F1C29"/>
                </a:solidFill>
                <a:latin typeface="TT Fors"/>
                <a:ea typeface="TT Fors"/>
                <a:cs typeface="TT Fors"/>
                <a:sym typeface="TT Fors"/>
              </a:rPr>
              <a:t>Measures overall business revenue</a:t>
            </a:r>
          </a:p>
          <a:p>
            <a:pPr algn="ctr">
              <a:lnSpc>
                <a:spcPts val="4541"/>
              </a:lnSpc>
            </a:pPr>
            <a:r>
              <a:rPr lang="en-US" sz="3027">
                <a:solidFill>
                  <a:srgbClr val="0F1C29"/>
                </a:solidFill>
                <a:latin typeface="TT Fors"/>
                <a:ea typeface="TT Fors"/>
                <a:cs typeface="TT Fors"/>
                <a:sym typeface="TT Fors"/>
              </a:rPr>
              <a:t>₹23 Lakh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845480" y="3344069"/>
            <a:ext cx="4233020" cy="645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320"/>
              </a:lnSpc>
            </a:pPr>
            <a:r>
              <a:rPr lang="en-US" sz="3669" b="1">
                <a:solidFill>
                  <a:srgbClr val="3A73AE"/>
                </a:solidFill>
                <a:latin typeface="TT Fors Bold"/>
                <a:ea typeface="TT Fors Bold"/>
                <a:cs typeface="TT Fors Bold"/>
                <a:sym typeface="TT Fors Bold"/>
              </a:rPr>
              <a:t>01. TOTAL SALES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887645" y="3344069"/>
            <a:ext cx="4233020" cy="645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320"/>
              </a:lnSpc>
            </a:pPr>
            <a:r>
              <a:rPr lang="en-US" sz="3669" b="1">
                <a:solidFill>
                  <a:srgbClr val="3A73AE"/>
                </a:solidFill>
                <a:latin typeface="TT Fors Bold"/>
                <a:ea typeface="TT Fors Bold"/>
                <a:cs typeface="TT Fors Bold"/>
                <a:sym typeface="TT Fors Bold"/>
              </a:rPr>
              <a:t>02. TOTAL PROFIT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887645" y="4142650"/>
            <a:ext cx="4512710" cy="1122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41"/>
              </a:lnSpc>
            </a:pPr>
            <a:r>
              <a:rPr lang="en-US" sz="3027">
                <a:solidFill>
                  <a:srgbClr val="0F1C29"/>
                </a:solidFill>
                <a:latin typeface="TT Fors"/>
                <a:ea typeface="TT Fors"/>
                <a:cs typeface="TT Fors"/>
                <a:sym typeface="TT Fors"/>
              </a:rPr>
              <a:t>Shows actual earnings</a:t>
            </a:r>
          </a:p>
          <a:p>
            <a:pPr algn="ctr">
              <a:lnSpc>
                <a:spcPts val="4541"/>
              </a:lnSpc>
            </a:pPr>
            <a:r>
              <a:rPr lang="en-US" sz="3027">
                <a:solidFill>
                  <a:srgbClr val="0F1C29"/>
                </a:solidFill>
                <a:latin typeface="TT Fors"/>
                <a:ea typeface="TT Fors"/>
                <a:cs typeface="TT Fors"/>
                <a:sym typeface="TT Fors"/>
              </a:rPr>
              <a:t>₹2.9 Lakh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933755" y="3344069"/>
            <a:ext cx="4783722" cy="645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320"/>
              </a:lnSpc>
            </a:pPr>
            <a:r>
              <a:rPr lang="en-US" sz="3669" b="1">
                <a:solidFill>
                  <a:srgbClr val="3A73AE"/>
                </a:solidFill>
                <a:latin typeface="TT Fors Bold"/>
                <a:ea typeface="TT Fors Bold"/>
                <a:cs typeface="TT Fors Bold"/>
                <a:sym typeface="TT Fors Bold"/>
              </a:rPr>
              <a:t>03. PROFIT MARGIN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933755" y="4113389"/>
            <a:ext cx="4512710" cy="1122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41"/>
              </a:lnSpc>
            </a:pPr>
            <a:r>
              <a:rPr lang="en-US" sz="3027">
                <a:solidFill>
                  <a:srgbClr val="0F1C29"/>
                </a:solidFill>
                <a:latin typeface="TT Fors"/>
                <a:ea typeface="TT Fors"/>
                <a:cs typeface="TT Fors"/>
                <a:sym typeface="TT Fors"/>
              </a:rPr>
              <a:t>Shows actual earnings</a:t>
            </a:r>
          </a:p>
          <a:p>
            <a:pPr algn="ctr">
              <a:lnSpc>
                <a:spcPts val="4541"/>
              </a:lnSpc>
            </a:pPr>
            <a:r>
              <a:rPr lang="en-US" sz="3027">
                <a:solidFill>
                  <a:srgbClr val="0F1C29"/>
                </a:solidFill>
                <a:latin typeface="TT Fors"/>
                <a:ea typeface="TT Fors"/>
                <a:cs typeface="TT Fors"/>
                <a:sym typeface="TT Fors"/>
              </a:rPr>
              <a:t>12.47%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356218" y="6188028"/>
            <a:ext cx="5444565" cy="13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320"/>
              </a:lnSpc>
            </a:pPr>
            <a:r>
              <a:rPr lang="en-US" sz="3669" b="1">
                <a:solidFill>
                  <a:srgbClr val="3A73AE"/>
                </a:solidFill>
                <a:latin typeface="TT Fors Bold"/>
                <a:ea typeface="TT Fors Bold"/>
                <a:cs typeface="TT Fors Bold"/>
                <a:sym typeface="TT Fors Bold"/>
              </a:rPr>
              <a:t>04. AVERAGE TRANSACTION VALUE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961990" y="7624098"/>
            <a:ext cx="4512710" cy="1694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41"/>
              </a:lnSpc>
            </a:pPr>
            <a:r>
              <a:rPr lang="en-US" sz="3027">
                <a:solidFill>
                  <a:srgbClr val="0F1C29"/>
                </a:solidFill>
                <a:latin typeface="TT Fors"/>
                <a:ea typeface="TT Fors"/>
                <a:cs typeface="TT Fors"/>
                <a:sym typeface="TT Fors"/>
              </a:rPr>
              <a:t>Shows customer spending behavior</a:t>
            </a:r>
          </a:p>
          <a:p>
            <a:pPr algn="ctr">
              <a:lnSpc>
                <a:spcPts val="4541"/>
              </a:lnSpc>
            </a:pPr>
            <a:r>
              <a:rPr lang="en-US" sz="3027">
                <a:solidFill>
                  <a:srgbClr val="0F1C29"/>
                </a:solidFill>
                <a:latin typeface="TT Fors"/>
                <a:ea typeface="TT Fors"/>
                <a:cs typeface="TT Fors"/>
                <a:sym typeface="TT Fors"/>
              </a:rPr>
              <a:t>₹230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256908" y="6188028"/>
            <a:ext cx="5418480" cy="13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320"/>
              </a:lnSpc>
            </a:pPr>
            <a:r>
              <a:rPr lang="en-US" sz="3669" b="1">
                <a:solidFill>
                  <a:srgbClr val="3A73AE"/>
                </a:solidFill>
                <a:latin typeface="TT Fors Bold"/>
                <a:ea typeface="TT Fors Bold"/>
                <a:cs typeface="TT Fors Bold"/>
                <a:sym typeface="TT Fors Bold"/>
              </a:rPr>
              <a:t>05. TOP PERFORMING REGION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0709793" y="7533709"/>
            <a:ext cx="4512710" cy="1694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41"/>
              </a:lnSpc>
            </a:pPr>
            <a:r>
              <a:rPr lang="en-US" sz="3027">
                <a:solidFill>
                  <a:srgbClr val="0F1C29"/>
                </a:solidFill>
                <a:latin typeface="TT Fors"/>
                <a:ea typeface="TT Fors"/>
                <a:cs typeface="TT Fors"/>
                <a:sym typeface="TT Fors"/>
              </a:rPr>
              <a:t>Identifies strongest market</a:t>
            </a:r>
          </a:p>
          <a:p>
            <a:pPr algn="ctr">
              <a:lnSpc>
                <a:spcPts val="4541"/>
              </a:lnSpc>
            </a:pPr>
            <a:r>
              <a:rPr lang="en-US" sz="3027">
                <a:solidFill>
                  <a:srgbClr val="0F1C29"/>
                </a:solidFill>
                <a:latin typeface="TT Fors"/>
                <a:ea typeface="TT Fors"/>
                <a:cs typeface="TT Fors"/>
                <a:sym typeface="TT Fors"/>
              </a:rPr>
              <a:t>West (₹7.2 L)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5035" y="450236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-1362542" y="4123218"/>
            <a:ext cx="7441042" cy="6590268"/>
            <a:chOff x="0" y="0"/>
            <a:chExt cx="9921390" cy="8787024"/>
          </a:xfrm>
        </p:grpSpPr>
        <p:sp>
          <p:nvSpPr>
            <p:cNvPr id="4" name="Freeform 4"/>
            <p:cNvSpPr/>
            <p:nvPr/>
          </p:nvSpPr>
          <p:spPr>
            <a:xfrm rot="-10800000" flipH="1" flipV="1">
              <a:off x="0" y="5594140"/>
              <a:ext cx="9921390" cy="3192884"/>
            </a:xfrm>
            <a:custGeom>
              <a:avLst/>
              <a:gdLst/>
              <a:ahLst/>
              <a:cxnLst/>
              <a:rect l="l" t="t" r="r" b="b"/>
              <a:pathLst>
                <a:path w="9921390" h="3192884">
                  <a:moveTo>
                    <a:pt x="9921390" y="3192884"/>
                  </a:moveTo>
                  <a:lnTo>
                    <a:pt x="0" y="3192884"/>
                  </a:lnTo>
                  <a:lnTo>
                    <a:pt x="0" y="0"/>
                  </a:lnTo>
                  <a:lnTo>
                    <a:pt x="9921390" y="0"/>
                  </a:lnTo>
                  <a:lnTo>
                    <a:pt x="9921390" y="3192884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5" name="Group 5"/>
            <p:cNvGrpSpPr/>
            <p:nvPr/>
          </p:nvGrpSpPr>
          <p:grpSpPr>
            <a:xfrm rot="-5400000">
              <a:off x="755161" y="1370491"/>
              <a:ext cx="3009241" cy="1257089"/>
              <a:chOff x="0" y="0"/>
              <a:chExt cx="406400" cy="16977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93C4F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 rot="-5400000">
              <a:off x="161273" y="3889360"/>
              <a:ext cx="4197018" cy="1257089"/>
              <a:chOff x="0" y="0"/>
              <a:chExt cx="566810" cy="16977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56681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566810" h="169771">
                    <a:moveTo>
                      <a:pt x="36361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566810" y="169771"/>
                    </a:lnTo>
                    <a:lnTo>
                      <a:pt x="363610" y="0"/>
                    </a:lnTo>
                    <a:close/>
                  </a:path>
                </a:pathLst>
              </a:custGeom>
              <a:solidFill>
                <a:srgbClr val="C2E1FE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01600" y="-57150"/>
                <a:ext cx="36361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 rot="-5400000">
              <a:off x="867105" y="581976"/>
              <a:ext cx="1999035" cy="835083"/>
              <a:chOff x="0" y="0"/>
              <a:chExt cx="406400" cy="169771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3A73AE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sp>
          <p:nvSpPr>
            <p:cNvPr id="14" name="Freeform 14"/>
            <p:cNvSpPr/>
            <p:nvPr/>
          </p:nvSpPr>
          <p:spPr>
            <a:xfrm>
              <a:off x="962259" y="999518"/>
              <a:ext cx="1926067" cy="3192884"/>
            </a:xfrm>
            <a:custGeom>
              <a:avLst/>
              <a:gdLst/>
              <a:ahLst/>
              <a:cxnLst/>
              <a:rect l="l" t="t" r="r" b="b"/>
              <a:pathLst>
                <a:path w="1926067" h="3192884">
                  <a:moveTo>
                    <a:pt x="0" y="0"/>
                  </a:moveTo>
                  <a:lnTo>
                    <a:pt x="1926067" y="0"/>
                  </a:lnTo>
                  <a:lnTo>
                    <a:pt x="1926067" y="3192883"/>
                  </a:lnTo>
                  <a:lnTo>
                    <a:pt x="0" y="3192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r="-415111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209500" y="-426486"/>
            <a:ext cx="7441042" cy="6590268"/>
            <a:chOff x="0" y="0"/>
            <a:chExt cx="9921390" cy="8787024"/>
          </a:xfrm>
        </p:grpSpPr>
        <p:sp>
          <p:nvSpPr>
            <p:cNvPr id="16" name="Freeform 16"/>
            <p:cNvSpPr/>
            <p:nvPr/>
          </p:nvSpPr>
          <p:spPr>
            <a:xfrm flipH="1" flipV="1">
              <a:off x="0" y="0"/>
              <a:ext cx="9921390" cy="3192884"/>
            </a:xfrm>
            <a:custGeom>
              <a:avLst/>
              <a:gdLst/>
              <a:ahLst/>
              <a:cxnLst/>
              <a:rect l="l" t="t" r="r" b="b"/>
              <a:pathLst>
                <a:path w="9921390" h="3192884">
                  <a:moveTo>
                    <a:pt x="9921390" y="3192884"/>
                  </a:moveTo>
                  <a:lnTo>
                    <a:pt x="0" y="3192884"/>
                  </a:lnTo>
                  <a:lnTo>
                    <a:pt x="0" y="0"/>
                  </a:lnTo>
                  <a:lnTo>
                    <a:pt x="9921390" y="0"/>
                  </a:lnTo>
                  <a:lnTo>
                    <a:pt x="9921390" y="3192884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17" name="Group 17"/>
            <p:cNvGrpSpPr/>
            <p:nvPr/>
          </p:nvGrpSpPr>
          <p:grpSpPr>
            <a:xfrm rot="5400000">
              <a:off x="6156988" y="6159444"/>
              <a:ext cx="3009241" cy="1257089"/>
              <a:chOff x="0" y="0"/>
              <a:chExt cx="406400" cy="169771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93C4F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 rot="5400000">
              <a:off x="5563099" y="3640576"/>
              <a:ext cx="4197018" cy="1257089"/>
              <a:chOff x="0" y="0"/>
              <a:chExt cx="566810" cy="169771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56681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566810" h="169771">
                    <a:moveTo>
                      <a:pt x="36361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566810" y="169771"/>
                    </a:lnTo>
                    <a:lnTo>
                      <a:pt x="363610" y="0"/>
                    </a:lnTo>
                    <a:close/>
                  </a:path>
                </a:pathLst>
              </a:custGeom>
              <a:solidFill>
                <a:srgbClr val="C2E1FE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01600" y="-57150"/>
                <a:ext cx="36361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 rot="5400000">
              <a:off x="7055249" y="7369965"/>
              <a:ext cx="1999035" cy="835083"/>
              <a:chOff x="0" y="0"/>
              <a:chExt cx="406400" cy="169771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3A73AE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sp>
          <p:nvSpPr>
            <p:cNvPr id="26" name="Freeform 26"/>
            <p:cNvSpPr/>
            <p:nvPr/>
          </p:nvSpPr>
          <p:spPr>
            <a:xfrm rot="-10800000">
              <a:off x="7033064" y="4594623"/>
              <a:ext cx="1926067" cy="3192884"/>
            </a:xfrm>
            <a:custGeom>
              <a:avLst/>
              <a:gdLst/>
              <a:ahLst/>
              <a:cxnLst/>
              <a:rect l="l" t="t" r="r" b="b"/>
              <a:pathLst>
                <a:path w="1926067" h="3192884">
                  <a:moveTo>
                    <a:pt x="0" y="0"/>
                  </a:moveTo>
                  <a:lnTo>
                    <a:pt x="1926067" y="0"/>
                  </a:lnTo>
                  <a:lnTo>
                    <a:pt x="1926067" y="3192883"/>
                  </a:lnTo>
                  <a:lnTo>
                    <a:pt x="0" y="3192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r="-415111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7" name="Freeform 27"/>
          <p:cNvSpPr/>
          <p:nvPr/>
        </p:nvSpPr>
        <p:spPr>
          <a:xfrm rot="-1947032">
            <a:off x="-34300695" y="5351059"/>
            <a:ext cx="41083903" cy="7247578"/>
          </a:xfrm>
          <a:custGeom>
            <a:avLst/>
            <a:gdLst/>
            <a:ahLst/>
            <a:cxnLst/>
            <a:rect l="l" t="t" r="r" b="b"/>
            <a:pathLst>
              <a:path w="41083903" h="7247578">
                <a:moveTo>
                  <a:pt x="0" y="0"/>
                </a:moveTo>
                <a:lnTo>
                  <a:pt x="41083903" y="0"/>
                </a:lnTo>
                <a:lnTo>
                  <a:pt x="41083903" y="7247578"/>
                </a:lnTo>
                <a:lnTo>
                  <a:pt x="0" y="724757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8" name="Freeform 28"/>
          <p:cNvSpPr/>
          <p:nvPr/>
        </p:nvSpPr>
        <p:spPr>
          <a:xfrm rot="-1947032" flipH="1" flipV="1">
            <a:off x="11504792" y="-2311637"/>
            <a:ext cx="41083903" cy="7247578"/>
          </a:xfrm>
          <a:custGeom>
            <a:avLst/>
            <a:gdLst/>
            <a:ahLst/>
            <a:cxnLst/>
            <a:rect l="l" t="t" r="r" b="b"/>
            <a:pathLst>
              <a:path w="41083903" h="7247578">
                <a:moveTo>
                  <a:pt x="41083903" y="7247578"/>
                </a:moveTo>
                <a:lnTo>
                  <a:pt x="0" y="7247578"/>
                </a:lnTo>
                <a:lnTo>
                  <a:pt x="0" y="0"/>
                </a:lnTo>
                <a:lnTo>
                  <a:pt x="41083903" y="0"/>
                </a:lnTo>
                <a:lnTo>
                  <a:pt x="41083903" y="7247578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Box 29"/>
          <p:cNvSpPr txBox="1"/>
          <p:nvPr/>
        </p:nvSpPr>
        <p:spPr>
          <a:xfrm>
            <a:off x="1182505" y="1789149"/>
            <a:ext cx="15922990" cy="1079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990"/>
              </a:lnSpc>
            </a:pPr>
            <a:r>
              <a:rPr lang="en-US" sz="6200" b="1">
                <a:solidFill>
                  <a:srgbClr val="3A73AE"/>
                </a:solidFill>
                <a:latin typeface="TT Fors Bold"/>
                <a:ea typeface="TT Fors Bold"/>
                <a:cs typeface="TT Fors Bold"/>
                <a:sym typeface="TT Fors Bold"/>
              </a:rPr>
              <a:t>SALES AND REGIONAL PERFORMANCE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62542" y="3108583"/>
            <a:ext cx="3742858" cy="6889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600"/>
              </a:lnSpc>
            </a:pPr>
            <a:r>
              <a:rPr lang="en-US" sz="4000" b="1" dirty="0">
                <a:solidFill>
                  <a:srgbClr val="3A73A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Sales Trend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362542" y="4056543"/>
            <a:ext cx="18288000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dirty="0">
                <a:solidFill>
                  <a:srgbClr val="3A73AE"/>
                </a:solidFill>
                <a:latin typeface="Canva Sans"/>
                <a:ea typeface="Canva Sans"/>
                <a:cs typeface="Canva Sans"/>
                <a:sym typeface="Canva Sans"/>
              </a:rPr>
              <a:t>Sales show steady growth from 2015 to 2017, indicating improving business performance.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362542" y="5475133"/>
            <a:ext cx="6130552" cy="6710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600"/>
              </a:lnSpc>
            </a:pPr>
            <a:r>
              <a:rPr lang="en-US" sz="4000" b="1" dirty="0">
                <a:solidFill>
                  <a:srgbClr val="3A73A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Regional Performance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62542" y="6421282"/>
            <a:ext cx="16925458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dirty="0">
                <a:solidFill>
                  <a:srgbClr val="3A73AE"/>
                </a:solidFill>
                <a:latin typeface="Canva Sans"/>
                <a:ea typeface="Canva Sans"/>
                <a:cs typeface="Canva Sans"/>
                <a:sym typeface="Canva Sans"/>
              </a:rPr>
              <a:t>The West region generates the highest sales, making it the strongest contributor to revenue.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-72683" y="21937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-1362542" y="4123218"/>
            <a:ext cx="7441042" cy="6590268"/>
            <a:chOff x="0" y="0"/>
            <a:chExt cx="9921390" cy="8787024"/>
          </a:xfrm>
        </p:grpSpPr>
        <p:sp>
          <p:nvSpPr>
            <p:cNvPr id="4" name="Freeform 4"/>
            <p:cNvSpPr/>
            <p:nvPr/>
          </p:nvSpPr>
          <p:spPr>
            <a:xfrm rot="-10800000" flipH="1" flipV="1">
              <a:off x="0" y="5594140"/>
              <a:ext cx="9921390" cy="3192884"/>
            </a:xfrm>
            <a:custGeom>
              <a:avLst/>
              <a:gdLst/>
              <a:ahLst/>
              <a:cxnLst/>
              <a:rect l="l" t="t" r="r" b="b"/>
              <a:pathLst>
                <a:path w="9921390" h="3192884">
                  <a:moveTo>
                    <a:pt x="9921390" y="3192884"/>
                  </a:moveTo>
                  <a:lnTo>
                    <a:pt x="0" y="3192884"/>
                  </a:lnTo>
                  <a:lnTo>
                    <a:pt x="0" y="0"/>
                  </a:lnTo>
                  <a:lnTo>
                    <a:pt x="9921390" y="0"/>
                  </a:lnTo>
                  <a:lnTo>
                    <a:pt x="9921390" y="3192884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5" name="Group 5"/>
            <p:cNvGrpSpPr/>
            <p:nvPr/>
          </p:nvGrpSpPr>
          <p:grpSpPr>
            <a:xfrm rot="-5400000">
              <a:off x="755161" y="1370491"/>
              <a:ext cx="3009241" cy="1257089"/>
              <a:chOff x="0" y="0"/>
              <a:chExt cx="406400" cy="16977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93C4F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 rot="-5400000">
              <a:off x="161273" y="3889360"/>
              <a:ext cx="4197018" cy="1257089"/>
              <a:chOff x="0" y="0"/>
              <a:chExt cx="566810" cy="16977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56681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566810" h="169771">
                    <a:moveTo>
                      <a:pt x="36361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566810" y="169771"/>
                    </a:lnTo>
                    <a:lnTo>
                      <a:pt x="363610" y="0"/>
                    </a:lnTo>
                    <a:close/>
                  </a:path>
                </a:pathLst>
              </a:custGeom>
              <a:solidFill>
                <a:srgbClr val="C2E1FE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01600" y="-57150"/>
                <a:ext cx="36361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 rot="-5400000">
              <a:off x="867105" y="581976"/>
              <a:ext cx="1999035" cy="835083"/>
              <a:chOff x="0" y="0"/>
              <a:chExt cx="406400" cy="169771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3A73AE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sp>
          <p:nvSpPr>
            <p:cNvPr id="14" name="Freeform 14"/>
            <p:cNvSpPr/>
            <p:nvPr/>
          </p:nvSpPr>
          <p:spPr>
            <a:xfrm>
              <a:off x="962259" y="999518"/>
              <a:ext cx="1926067" cy="3192884"/>
            </a:xfrm>
            <a:custGeom>
              <a:avLst/>
              <a:gdLst/>
              <a:ahLst/>
              <a:cxnLst/>
              <a:rect l="l" t="t" r="r" b="b"/>
              <a:pathLst>
                <a:path w="1926067" h="3192884">
                  <a:moveTo>
                    <a:pt x="0" y="0"/>
                  </a:moveTo>
                  <a:lnTo>
                    <a:pt x="1926067" y="0"/>
                  </a:lnTo>
                  <a:lnTo>
                    <a:pt x="1926067" y="3192883"/>
                  </a:lnTo>
                  <a:lnTo>
                    <a:pt x="0" y="3192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r="-415111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209500" y="-426486"/>
            <a:ext cx="7441042" cy="6590268"/>
            <a:chOff x="0" y="0"/>
            <a:chExt cx="9921390" cy="8787024"/>
          </a:xfrm>
        </p:grpSpPr>
        <p:sp>
          <p:nvSpPr>
            <p:cNvPr id="16" name="Freeform 16"/>
            <p:cNvSpPr/>
            <p:nvPr/>
          </p:nvSpPr>
          <p:spPr>
            <a:xfrm flipH="1" flipV="1">
              <a:off x="0" y="0"/>
              <a:ext cx="9921390" cy="3192884"/>
            </a:xfrm>
            <a:custGeom>
              <a:avLst/>
              <a:gdLst/>
              <a:ahLst/>
              <a:cxnLst/>
              <a:rect l="l" t="t" r="r" b="b"/>
              <a:pathLst>
                <a:path w="9921390" h="3192884">
                  <a:moveTo>
                    <a:pt x="9921390" y="3192884"/>
                  </a:moveTo>
                  <a:lnTo>
                    <a:pt x="0" y="3192884"/>
                  </a:lnTo>
                  <a:lnTo>
                    <a:pt x="0" y="0"/>
                  </a:lnTo>
                  <a:lnTo>
                    <a:pt x="9921390" y="0"/>
                  </a:lnTo>
                  <a:lnTo>
                    <a:pt x="9921390" y="3192884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17" name="Group 17"/>
            <p:cNvGrpSpPr/>
            <p:nvPr/>
          </p:nvGrpSpPr>
          <p:grpSpPr>
            <a:xfrm rot="5400000">
              <a:off x="6156988" y="6159444"/>
              <a:ext cx="3009241" cy="1257089"/>
              <a:chOff x="0" y="0"/>
              <a:chExt cx="406400" cy="169771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93C4F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 rot="5400000">
              <a:off x="5563099" y="3640576"/>
              <a:ext cx="4197018" cy="1257089"/>
              <a:chOff x="0" y="0"/>
              <a:chExt cx="566810" cy="169771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56681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566810" h="169771">
                    <a:moveTo>
                      <a:pt x="36361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566810" y="169771"/>
                    </a:lnTo>
                    <a:lnTo>
                      <a:pt x="363610" y="0"/>
                    </a:lnTo>
                    <a:close/>
                  </a:path>
                </a:pathLst>
              </a:custGeom>
              <a:solidFill>
                <a:srgbClr val="C2E1FE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01600" y="-57150"/>
                <a:ext cx="36361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 rot="5400000">
              <a:off x="7055249" y="7369965"/>
              <a:ext cx="1999035" cy="835083"/>
              <a:chOff x="0" y="0"/>
              <a:chExt cx="406400" cy="169771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3A73AE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sp>
          <p:nvSpPr>
            <p:cNvPr id="26" name="Freeform 26"/>
            <p:cNvSpPr/>
            <p:nvPr/>
          </p:nvSpPr>
          <p:spPr>
            <a:xfrm rot="-10800000">
              <a:off x="7033064" y="4594623"/>
              <a:ext cx="1926067" cy="3192884"/>
            </a:xfrm>
            <a:custGeom>
              <a:avLst/>
              <a:gdLst/>
              <a:ahLst/>
              <a:cxnLst/>
              <a:rect l="l" t="t" r="r" b="b"/>
              <a:pathLst>
                <a:path w="1926067" h="3192884">
                  <a:moveTo>
                    <a:pt x="0" y="0"/>
                  </a:moveTo>
                  <a:lnTo>
                    <a:pt x="1926067" y="0"/>
                  </a:lnTo>
                  <a:lnTo>
                    <a:pt x="1926067" y="3192883"/>
                  </a:lnTo>
                  <a:lnTo>
                    <a:pt x="0" y="3192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r="-415111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7" name="Freeform 27"/>
          <p:cNvSpPr/>
          <p:nvPr/>
        </p:nvSpPr>
        <p:spPr>
          <a:xfrm rot="-1947032">
            <a:off x="-34300695" y="5351059"/>
            <a:ext cx="41083903" cy="7247578"/>
          </a:xfrm>
          <a:custGeom>
            <a:avLst/>
            <a:gdLst/>
            <a:ahLst/>
            <a:cxnLst/>
            <a:rect l="l" t="t" r="r" b="b"/>
            <a:pathLst>
              <a:path w="41083903" h="7247578">
                <a:moveTo>
                  <a:pt x="0" y="0"/>
                </a:moveTo>
                <a:lnTo>
                  <a:pt x="41083903" y="0"/>
                </a:lnTo>
                <a:lnTo>
                  <a:pt x="41083903" y="7247578"/>
                </a:lnTo>
                <a:lnTo>
                  <a:pt x="0" y="724757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8" name="Freeform 28"/>
          <p:cNvSpPr/>
          <p:nvPr/>
        </p:nvSpPr>
        <p:spPr>
          <a:xfrm rot="-1947032" flipH="1" flipV="1">
            <a:off x="11504792" y="-2311637"/>
            <a:ext cx="41083903" cy="7247578"/>
          </a:xfrm>
          <a:custGeom>
            <a:avLst/>
            <a:gdLst/>
            <a:ahLst/>
            <a:cxnLst/>
            <a:rect l="l" t="t" r="r" b="b"/>
            <a:pathLst>
              <a:path w="41083903" h="7247578">
                <a:moveTo>
                  <a:pt x="41083903" y="7247578"/>
                </a:moveTo>
                <a:lnTo>
                  <a:pt x="0" y="7247578"/>
                </a:lnTo>
                <a:lnTo>
                  <a:pt x="0" y="0"/>
                </a:lnTo>
                <a:lnTo>
                  <a:pt x="41083903" y="0"/>
                </a:lnTo>
                <a:lnTo>
                  <a:pt x="41083903" y="7247578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Box 29"/>
          <p:cNvSpPr txBox="1"/>
          <p:nvPr/>
        </p:nvSpPr>
        <p:spPr>
          <a:xfrm>
            <a:off x="1182505" y="1587918"/>
            <a:ext cx="15922990" cy="895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395"/>
              </a:lnSpc>
            </a:pPr>
            <a:r>
              <a:rPr lang="en-US" sz="5100" b="1">
                <a:solidFill>
                  <a:srgbClr val="3A73AE"/>
                </a:solidFill>
                <a:latin typeface="TT Fors Bold"/>
                <a:ea typeface="TT Fors Bold"/>
                <a:cs typeface="TT Fors Bold"/>
                <a:sym typeface="TT Fors Bold"/>
              </a:rPr>
              <a:t>PRODUCT PROFITABILITY &amp; DISCOUNT IMPACT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62541" y="3110393"/>
            <a:ext cx="6130553" cy="6710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600"/>
              </a:lnSpc>
            </a:pPr>
            <a:r>
              <a:rPr lang="en-US" sz="4000" b="1" dirty="0">
                <a:solidFill>
                  <a:srgbClr val="3A73A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Category Profitability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362542" y="4056543"/>
            <a:ext cx="15896758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3A73AE"/>
                </a:solidFill>
                <a:latin typeface="Canva Sans"/>
                <a:ea typeface="Canva Sans"/>
                <a:cs typeface="Canva Sans"/>
                <a:sym typeface="Canva Sans"/>
              </a:rPr>
              <a:t>Technology products generate the highest profit compared to other categories.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362542" y="5475133"/>
            <a:ext cx="4433296" cy="6710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600"/>
              </a:lnSpc>
            </a:pPr>
            <a:r>
              <a:rPr lang="en-US" sz="4000" b="1" dirty="0">
                <a:solidFill>
                  <a:srgbClr val="3A73A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Discount Impact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62542" y="6421282"/>
            <a:ext cx="16925458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3A73AE"/>
                </a:solidFill>
                <a:latin typeface="Canva Sans"/>
                <a:ea typeface="Canva Sans"/>
                <a:cs typeface="Canva Sans"/>
                <a:sym typeface="Canva Sans"/>
              </a:rPr>
              <a:t>Higher discount levels are associated with declining profitability, especially at higher discount ranges.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85239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/>
          <p:cNvGrpSpPr/>
          <p:nvPr/>
        </p:nvGrpSpPr>
        <p:grpSpPr>
          <a:xfrm>
            <a:off x="-1362542" y="4123218"/>
            <a:ext cx="7441042" cy="6590268"/>
            <a:chOff x="0" y="0"/>
            <a:chExt cx="9921390" cy="8787024"/>
          </a:xfrm>
        </p:grpSpPr>
        <p:sp>
          <p:nvSpPr>
            <p:cNvPr id="4" name="Freeform 4"/>
            <p:cNvSpPr/>
            <p:nvPr/>
          </p:nvSpPr>
          <p:spPr>
            <a:xfrm rot="-10800000" flipH="1" flipV="1">
              <a:off x="0" y="5594140"/>
              <a:ext cx="9921390" cy="3192884"/>
            </a:xfrm>
            <a:custGeom>
              <a:avLst/>
              <a:gdLst/>
              <a:ahLst/>
              <a:cxnLst/>
              <a:rect l="l" t="t" r="r" b="b"/>
              <a:pathLst>
                <a:path w="9921390" h="3192884">
                  <a:moveTo>
                    <a:pt x="9921390" y="3192884"/>
                  </a:moveTo>
                  <a:lnTo>
                    <a:pt x="0" y="3192884"/>
                  </a:lnTo>
                  <a:lnTo>
                    <a:pt x="0" y="0"/>
                  </a:lnTo>
                  <a:lnTo>
                    <a:pt x="9921390" y="0"/>
                  </a:lnTo>
                  <a:lnTo>
                    <a:pt x="9921390" y="3192884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5" name="Group 5"/>
            <p:cNvGrpSpPr/>
            <p:nvPr/>
          </p:nvGrpSpPr>
          <p:grpSpPr>
            <a:xfrm rot="-5400000">
              <a:off x="755161" y="1370491"/>
              <a:ext cx="3009241" cy="1257089"/>
              <a:chOff x="0" y="0"/>
              <a:chExt cx="406400" cy="16977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93C4F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 rot="-5400000">
              <a:off x="161273" y="3889360"/>
              <a:ext cx="4197018" cy="1257089"/>
              <a:chOff x="0" y="0"/>
              <a:chExt cx="566810" cy="16977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56681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566810" h="169771">
                    <a:moveTo>
                      <a:pt x="36361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566810" y="169771"/>
                    </a:lnTo>
                    <a:lnTo>
                      <a:pt x="363610" y="0"/>
                    </a:lnTo>
                    <a:close/>
                  </a:path>
                </a:pathLst>
              </a:custGeom>
              <a:solidFill>
                <a:srgbClr val="C2E1FE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01600" y="-57150"/>
                <a:ext cx="36361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 rot="-5400000">
              <a:off x="867105" y="581976"/>
              <a:ext cx="1999035" cy="835083"/>
              <a:chOff x="0" y="0"/>
              <a:chExt cx="406400" cy="169771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3A73AE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sp>
          <p:nvSpPr>
            <p:cNvPr id="14" name="Freeform 14"/>
            <p:cNvSpPr/>
            <p:nvPr/>
          </p:nvSpPr>
          <p:spPr>
            <a:xfrm>
              <a:off x="962259" y="999518"/>
              <a:ext cx="1926067" cy="3192884"/>
            </a:xfrm>
            <a:custGeom>
              <a:avLst/>
              <a:gdLst/>
              <a:ahLst/>
              <a:cxnLst/>
              <a:rect l="l" t="t" r="r" b="b"/>
              <a:pathLst>
                <a:path w="1926067" h="3192884">
                  <a:moveTo>
                    <a:pt x="0" y="0"/>
                  </a:moveTo>
                  <a:lnTo>
                    <a:pt x="1926067" y="0"/>
                  </a:lnTo>
                  <a:lnTo>
                    <a:pt x="1926067" y="3192883"/>
                  </a:lnTo>
                  <a:lnTo>
                    <a:pt x="0" y="3192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r="-415111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209500" y="-426486"/>
            <a:ext cx="7441042" cy="6590268"/>
            <a:chOff x="0" y="0"/>
            <a:chExt cx="9921390" cy="8787024"/>
          </a:xfrm>
        </p:grpSpPr>
        <p:sp>
          <p:nvSpPr>
            <p:cNvPr id="16" name="Freeform 16"/>
            <p:cNvSpPr/>
            <p:nvPr/>
          </p:nvSpPr>
          <p:spPr>
            <a:xfrm flipH="1" flipV="1">
              <a:off x="0" y="0"/>
              <a:ext cx="9921390" cy="3192884"/>
            </a:xfrm>
            <a:custGeom>
              <a:avLst/>
              <a:gdLst/>
              <a:ahLst/>
              <a:cxnLst/>
              <a:rect l="l" t="t" r="r" b="b"/>
              <a:pathLst>
                <a:path w="9921390" h="3192884">
                  <a:moveTo>
                    <a:pt x="9921390" y="3192884"/>
                  </a:moveTo>
                  <a:lnTo>
                    <a:pt x="0" y="3192884"/>
                  </a:lnTo>
                  <a:lnTo>
                    <a:pt x="0" y="0"/>
                  </a:lnTo>
                  <a:lnTo>
                    <a:pt x="9921390" y="0"/>
                  </a:lnTo>
                  <a:lnTo>
                    <a:pt x="9921390" y="3192884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17" name="Group 17"/>
            <p:cNvGrpSpPr/>
            <p:nvPr/>
          </p:nvGrpSpPr>
          <p:grpSpPr>
            <a:xfrm rot="5400000">
              <a:off x="6156988" y="6159444"/>
              <a:ext cx="3009241" cy="1257089"/>
              <a:chOff x="0" y="0"/>
              <a:chExt cx="406400" cy="169771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93C4F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 rot="5400000">
              <a:off x="5563099" y="3640576"/>
              <a:ext cx="4197018" cy="1257089"/>
              <a:chOff x="0" y="0"/>
              <a:chExt cx="566810" cy="169771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56681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566810" h="169771">
                    <a:moveTo>
                      <a:pt x="36361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566810" y="169771"/>
                    </a:lnTo>
                    <a:lnTo>
                      <a:pt x="363610" y="0"/>
                    </a:lnTo>
                    <a:close/>
                  </a:path>
                </a:pathLst>
              </a:custGeom>
              <a:solidFill>
                <a:srgbClr val="C2E1FE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01600" y="-57150"/>
                <a:ext cx="36361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 rot="5400000">
              <a:off x="7055249" y="7369965"/>
              <a:ext cx="1999035" cy="835083"/>
              <a:chOff x="0" y="0"/>
              <a:chExt cx="406400" cy="169771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3A73AE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sp>
          <p:nvSpPr>
            <p:cNvPr id="26" name="Freeform 26"/>
            <p:cNvSpPr/>
            <p:nvPr/>
          </p:nvSpPr>
          <p:spPr>
            <a:xfrm rot="-10800000">
              <a:off x="7033064" y="4594623"/>
              <a:ext cx="1926067" cy="3192884"/>
            </a:xfrm>
            <a:custGeom>
              <a:avLst/>
              <a:gdLst/>
              <a:ahLst/>
              <a:cxnLst/>
              <a:rect l="l" t="t" r="r" b="b"/>
              <a:pathLst>
                <a:path w="1926067" h="3192884">
                  <a:moveTo>
                    <a:pt x="0" y="0"/>
                  </a:moveTo>
                  <a:lnTo>
                    <a:pt x="1926067" y="0"/>
                  </a:lnTo>
                  <a:lnTo>
                    <a:pt x="1926067" y="3192883"/>
                  </a:lnTo>
                  <a:lnTo>
                    <a:pt x="0" y="3192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r="-415111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7" name="Freeform 27"/>
          <p:cNvSpPr/>
          <p:nvPr/>
        </p:nvSpPr>
        <p:spPr>
          <a:xfrm rot="-1947032">
            <a:off x="-34300695" y="5351059"/>
            <a:ext cx="41083903" cy="7247578"/>
          </a:xfrm>
          <a:custGeom>
            <a:avLst/>
            <a:gdLst/>
            <a:ahLst/>
            <a:cxnLst/>
            <a:rect l="l" t="t" r="r" b="b"/>
            <a:pathLst>
              <a:path w="41083903" h="7247578">
                <a:moveTo>
                  <a:pt x="0" y="0"/>
                </a:moveTo>
                <a:lnTo>
                  <a:pt x="41083903" y="0"/>
                </a:lnTo>
                <a:lnTo>
                  <a:pt x="41083903" y="7247578"/>
                </a:lnTo>
                <a:lnTo>
                  <a:pt x="0" y="724757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8" name="Freeform 28"/>
          <p:cNvSpPr/>
          <p:nvPr/>
        </p:nvSpPr>
        <p:spPr>
          <a:xfrm rot="-1947032" flipH="1" flipV="1">
            <a:off x="11504792" y="-2311637"/>
            <a:ext cx="41083903" cy="7247578"/>
          </a:xfrm>
          <a:custGeom>
            <a:avLst/>
            <a:gdLst/>
            <a:ahLst/>
            <a:cxnLst/>
            <a:rect l="l" t="t" r="r" b="b"/>
            <a:pathLst>
              <a:path w="41083903" h="7247578">
                <a:moveTo>
                  <a:pt x="41083903" y="7247578"/>
                </a:moveTo>
                <a:lnTo>
                  <a:pt x="0" y="7247578"/>
                </a:lnTo>
                <a:lnTo>
                  <a:pt x="0" y="0"/>
                </a:lnTo>
                <a:lnTo>
                  <a:pt x="41083903" y="0"/>
                </a:lnTo>
                <a:lnTo>
                  <a:pt x="41083903" y="7247578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Box 29"/>
          <p:cNvSpPr txBox="1"/>
          <p:nvPr/>
        </p:nvSpPr>
        <p:spPr>
          <a:xfrm>
            <a:off x="1028700" y="416804"/>
            <a:ext cx="15922990" cy="895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395"/>
              </a:lnSpc>
            </a:pPr>
            <a:r>
              <a:rPr lang="en-US" sz="5100" b="1">
                <a:solidFill>
                  <a:srgbClr val="3A73AE"/>
                </a:solidFill>
                <a:latin typeface="TT Fors Bold"/>
                <a:ea typeface="TT Fors Bold"/>
                <a:cs typeface="TT Fors Bold"/>
                <a:sym typeface="TT Fors Bold"/>
              </a:rPr>
              <a:t>EXECUTIVE SUMMARY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62542" y="1245477"/>
            <a:ext cx="2752258" cy="5516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620"/>
              </a:lnSpc>
            </a:pPr>
            <a:r>
              <a:rPr lang="en-US" sz="3300" b="1" dirty="0">
                <a:solidFill>
                  <a:srgbClr val="3A73A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Findings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28700" y="1912822"/>
            <a:ext cx="15896758" cy="2980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3A73AE"/>
                </a:solidFill>
                <a:latin typeface="Canva Sans"/>
                <a:ea typeface="Canva Sans"/>
                <a:cs typeface="Canva Sans"/>
                <a:sym typeface="Canva Sans"/>
              </a:rPr>
              <a:t>The business generated ₹23 Lakh in sales and ₹2.9 Lakh profit.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3A73AE"/>
                </a:solidFill>
                <a:latin typeface="Canva Sans"/>
                <a:ea typeface="Canva Sans"/>
                <a:cs typeface="Canva Sans"/>
                <a:sym typeface="Canva Sans"/>
              </a:rPr>
              <a:t>Sales show consistent growth across the years.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3A73AE"/>
                </a:solidFill>
                <a:latin typeface="Canva Sans"/>
                <a:ea typeface="Canva Sans"/>
                <a:cs typeface="Canva Sans"/>
                <a:sym typeface="Canva Sans"/>
              </a:rPr>
              <a:t>West region leads total sales performance.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3A73AE"/>
                </a:solidFill>
                <a:latin typeface="Canva Sans"/>
                <a:ea typeface="Canva Sans"/>
                <a:cs typeface="Canva Sans"/>
                <a:sym typeface="Canva Sans"/>
              </a:rPr>
              <a:t>Technology category contributes the most profit.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3A73AE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362542" y="4329633"/>
            <a:ext cx="3819058" cy="5638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 b="1" dirty="0">
                <a:solidFill>
                  <a:srgbClr val="3A73A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What is going well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28700" y="4998287"/>
            <a:ext cx="10248900" cy="18053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3A73AE"/>
                </a:solidFill>
                <a:latin typeface="Canva Sans"/>
                <a:ea typeface="Canva Sans"/>
                <a:cs typeface="Canva Sans"/>
                <a:sym typeface="Canva Sans"/>
              </a:rPr>
              <a:t>Strong sales growth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3A73AE"/>
                </a:solidFill>
                <a:latin typeface="Canva Sans"/>
                <a:ea typeface="Canva Sans"/>
                <a:cs typeface="Canva Sans"/>
                <a:sym typeface="Canva Sans"/>
              </a:rPr>
              <a:t>High profitability from technology products</a:t>
            </a:r>
          </a:p>
          <a:p>
            <a:pPr algn="l">
              <a:lnSpc>
                <a:spcPts val="4759"/>
              </a:lnSpc>
            </a:pPr>
            <a:endParaRPr lang="en-US" sz="3399" dirty="0">
              <a:solidFill>
                <a:srgbClr val="3A73AE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1542210" y="6319723"/>
            <a:ext cx="11618041" cy="5638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620"/>
              </a:lnSpc>
            </a:pPr>
            <a:r>
              <a:rPr lang="en-US" sz="3300" b="1" dirty="0">
                <a:solidFill>
                  <a:srgbClr val="3A73A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What needs attention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28700" y="6883602"/>
            <a:ext cx="9419630" cy="1780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3A73AE"/>
                </a:solidFill>
                <a:latin typeface="Canva Sans"/>
                <a:ea typeface="Canva Sans"/>
                <a:cs typeface="Canva Sans"/>
                <a:sym typeface="Canva Sans"/>
              </a:rPr>
              <a:t>Furniture category shows low profitability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3A73AE"/>
                </a:solidFill>
                <a:latin typeface="Canva Sans"/>
                <a:ea typeface="Canva Sans"/>
                <a:cs typeface="Canva Sans"/>
                <a:sym typeface="Canva Sans"/>
              </a:rPr>
              <a:t>High discounts negatively impact profit</a:t>
            </a:r>
          </a:p>
          <a:p>
            <a:pPr algn="l">
              <a:lnSpc>
                <a:spcPts val="4759"/>
              </a:lnSpc>
            </a:pPr>
            <a:endParaRPr lang="en-US" sz="3399" dirty="0">
              <a:solidFill>
                <a:srgbClr val="3A73AE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-1362542" y="4123218"/>
            <a:ext cx="7441042" cy="6590268"/>
            <a:chOff x="0" y="0"/>
            <a:chExt cx="9921390" cy="8787024"/>
          </a:xfrm>
        </p:grpSpPr>
        <p:sp>
          <p:nvSpPr>
            <p:cNvPr id="4" name="Freeform 4"/>
            <p:cNvSpPr/>
            <p:nvPr/>
          </p:nvSpPr>
          <p:spPr>
            <a:xfrm rot="-10800000" flipH="1" flipV="1">
              <a:off x="0" y="5594140"/>
              <a:ext cx="9921390" cy="3192884"/>
            </a:xfrm>
            <a:custGeom>
              <a:avLst/>
              <a:gdLst/>
              <a:ahLst/>
              <a:cxnLst/>
              <a:rect l="l" t="t" r="r" b="b"/>
              <a:pathLst>
                <a:path w="9921390" h="3192884">
                  <a:moveTo>
                    <a:pt x="9921390" y="3192884"/>
                  </a:moveTo>
                  <a:lnTo>
                    <a:pt x="0" y="3192884"/>
                  </a:lnTo>
                  <a:lnTo>
                    <a:pt x="0" y="0"/>
                  </a:lnTo>
                  <a:lnTo>
                    <a:pt x="9921390" y="0"/>
                  </a:lnTo>
                  <a:lnTo>
                    <a:pt x="9921390" y="3192884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5" name="Group 5"/>
            <p:cNvGrpSpPr/>
            <p:nvPr/>
          </p:nvGrpSpPr>
          <p:grpSpPr>
            <a:xfrm rot="-5400000">
              <a:off x="755161" y="1370491"/>
              <a:ext cx="3009241" cy="1257089"/>
              <a:chOff x="0" y="0"/>
              <a:chExt cx="406400" cy="16977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93C4F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 rot="-5400000">
              <a:off x="161273" y="3889360"/>
              <a:ext cx="4197018" cy="1257089"/>
              <a:chOff x="0" y="0"/>
              <a:chExt cx="566810" cy="16977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56681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566810" h="169771">
                    <a:moveTo>
                      <a:pt x="36361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566810" y="169771"/>
                    </a:lnTo>
                    <a:lnTo>
                      <a:pt x="363610" y="0"/>
                    </a:lnTo>
                    <a:close/>
                  </a:path>
                </a:pathLst>
              </a:custGeom>
              <a:solidFill>
                <a:srgbClr val="C2E1FE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01600" y="-57150"/>
                <a:ext cx="36361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 rot="-5400000">
              <a:off x="867105" y="581976"/>
              <a:ext cx="1999035" cy="835083"/>
              <a:chOff x="0" y="0"/>
              <a:chExt cx="406400" cy="169771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3A73AE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sp>
          <p:nvSpPr>
            <p:cNvPr id="14" name="Freeform 14"/>
            <p:cNvSpPr/>
            <p:nvPr/>
          </p:nvSpPr>
          <p:spPr>
            <a:xfrm>
              <a:off x="962259" y="999518"/>
              <a:ext cx="1926067" cy="3192884"/>
            </a:xfrm>
            <a:custGeom>
              <a:avLst/>
              <a:gdLst/>
              <a:ahLst/>
              <a:cxnLst/>
              <a:rect l="l" t="t" r="r" b="b"/>
              <a:pathLst>
                <a:path w="1926067" h="3192884">
                  <a:moveTo>
                    <a:pt x="0" y="0"/>
                  </a:moveTo>
                  <a:lnTo>
                    <a:pt x="1926067" y="0"/>
                  </a:lnTo>
                  <a:lnTo>
                    <a:pt x="1926067" y="3192883"/>
                  </a:lnTo>
                  <a:lnTo>
                    <a:pt x="0" y="3192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r="-415111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209500" y="-426486"/>
            <a:ext cx="7441042" cy="6590268"/>
            <a:chOff x="0" y="0"/>
            <a:chExt cx="9921390" cy="8787024"/>
          </a:xfrm>
        </p:grpSpPr>
        <p:sp>
          <p:nvSpPr>
            <p:cNvPr id="16" name="Freeform 16"/>
            <p:cNvSpPr/>
            <p:nvPr/>
          </p:nvSpPr>
          <p:spPr>
            <a:xfrm flipH="1" flipV="1">
              <a:off x="0" y="0"/>
              <a:ext cx="9921390" cy="3192884"/>
            </a:xfrm>
            <a:custGeom>
              <a:avLst/>
              <a:gdLst/>
              <a:ahLst/>
              <a:cxnLst/>
              <a:rect l="l" t="t" r="r" b="b"/>
              <a:pathLst>
                <a:path w="9921390" h="3192884">
                  <a:moveTo>
                    <a:pt x="9921390" y="3192884"/>
                  </a:moveTo>
                  <a:lnTo>
                    <a:pt x="0" y="3192884"/>
                  </a:lnTo>
                  <a:lnTo>
                    <a:pt x="0" y="0"/>
                  </a:lnTo>
                  <a:lnTo>
                    <a:pt x="9921390" y="0"/>
                  </a:lnTo>
                  <a:lnTo>
                    <a:pt x="9921390" y="3192884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17" name="Group 17"/>
            <p:cNvGrpSpPr/>
            <p:nvPr/>
          </p:nvGrpSpPr>
          <p:grpSpPr>
            <a:xfrm rot="5400000">
              <a:off x="6156988" y="6159444"/>
              <a:ext cx="3009241" cy="1257089"/>
              <a:chOff x="0" y="0"/>
              <a:chExt cx="406400" cy="169771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93C4F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 rot="5400000">
              <a:off x="5563099" y="3640576"/>
              <a:ext cx="4197018" cy="1257089"/>
              <a:chOff x="0" y="0"/>
              <a:chExt cx="566810" cy="169771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56681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566810" h="169771">
                    <a:moveTo>
                      <a:pt x="36361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566810" y="169771"/>
                    </a:lnTo>
                    <a:lnTo>
                      <a:pt x="363610" y="0"/>
                    </a:lnTo>
                    <a:close/>
                  </a:path>
                </a:pathLst>
              </a:custGeom>
              <a:solidFill>
                <a:srgbClr val="C2E1FE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01600" y="-57150"/>
                <a:ext cx="36361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 rot="5400000">
              <a:off x="7055249" y="7369965"/>
              <a:ext cx="1999035" cy="835083"/>
              <a:chOff x="0" y="0"/>
              <a:chExt cx="406400" cy="169771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3A73AE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sp>
          <p:nvSpPr>
            <p:cNvPr id="26" name="Freeform 26"/>
            <p:cNvSpPr/>
            <p:nvPr/>
          </p:nvSpPr>
          <p:spPr>
            <a:xfrm rot="-10800000">
              <a:off x="7033064" y="4594623"/>
              <a:ext cx="1926067" cy="3192884"/>
            </a:xfrm>
            <a:custGeom>
              <a:avLst/>
              <a:gdLst/>
              <a:ahLst/>
              <a:cxnLst/>
              <a:rect l="l" t="t" r="r" b="b"/>
              <a:pathLst>
                <a:path w="1926067" h="3192884">
                  <a:moveTo>
                    <a:pt x="0" y="0"/>
                  </a:moveTo>
                  <a:lnTo>
                    <a:pt x="1926067" y="0"/>
                  </a:lnTo>
                  <a:lnTo>
                    <a:pt x="1926067" y="3192883"/>
                  </a:lnTo>
                  <a:lnTo>
                    <a:pt x="0" y="3192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r="-415111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7" name="Freeform 27"/>
          <p:cNvSpPr/>
          <p:nvPr/>
        </p:nvSpPr>
        <p:spPr>
          <a:xfrm rot="-1947032">
            <a:off x="-34300695" y="5351059"/>
            <a:ext cx="41083903" cy="7247578"/>
          </a:xfrm>
          <a:custGeom>
            <a:avLst/>
            <a:gdLst/>
            <a:ahLst/>
            <a:cxnLst/>
            <a:rect l="l" t="t" r="r" b="b"/>
            <a:pathLst>
              <a:path w="41083903" h="7247578">
                <a:moveTo>
                  <a:pt x="0" y="0"/>
                </a:moveTo>
                <a:lnTo>
                  <a:pt x="41083903" y="0"/>
                </a:lnTo>
                <a:lnTo>
                  <a:pt x="41083903" y="7247578"/>
                </a:lnTo>
                <a:lnTo>
                  <a:pt x="0" y="724757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8" name="Freeform 28"/>
          <p:cNvSpPr/>
          <p:nvPr/>
        </p:nvSpPr>
        <p:spPr>
          <a:xfrm rot="-1947032" flipH="1" flipV="1">
            <a:off x="11504792" y="-2311637"/>
            <a:ext cx="41083903" cy="7247578"/>
          </a:xfrm>
          <a:custGeom>
            <a:avLst/>
            <a:gdLst/>
            <a:ahLst/>
            <a:cxnLst/>
            <a:rect l="l" t="t" r="r" b="b"/>
            <a:pathLst>
              <a:path w="41083903" h="7247578">
                <a:moveTo>
                  <a:pt x="41083903" y="7247578"/>
                </a:moveTo>
                <a:lnTo>
                  <a:pt x="0" y="7247578"/>
                </a:lnTo>
                <a:lnTo>
                  <a:pt x="0" y="0"/>
                </a:lnTo>
                <a:lnTo>
                  <a:pt x="41083903" y="0"/>
                </a:lnTo>
                <a:lnTo>
                  <a:pt x="41083903" y="7247578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Box 29"/>
          <p:cNvSpPr txBox="1"/>
          <p:nvPr/>
        </p:nvSpPr>
        <p:spPr>
          <a:xfrm>
            <a:off x="1182505" y="1325600"/>
            <a:ext cx="15922990" cy="895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395"/>
              </a:lnSpc>
            </a:pPr>
            <a:r>
              <a:rPr lang="en-US" sz="5100" b="1">
                <a:solidFill>
                  <a:srgbClr val="3A73AE"/>
                </a:solidFill>
                <a:latin typeface="TT Fors Bold"/>
                <a:ea typeface="TT Fors Bold"/>
                <a:cs typeface="TT Fors Bold"/>
                <a:sym typeface="TT Fors Bold"/>
              </a:rPr>
              <a:t>RECOMMENDATIONS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47377" y="2135223"/>
            <a:ext cx="2386423" cy="6889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 dirty="0">
                <a:solidFill>
                  <a:srgbClr val="3A73A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Action 1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362542" y="3568958"/>
            <a:ext cx="15896758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3A73AE"/>
                </a:solidFill>
                <a:latin typeface="Canva Sans"/>
                <a:ea typeface="Canva Sans"/>
                <a:cs typeface="Canva Sans"/>
                <a:sym typeface="Canva Sans"/>
              </a:rPr>
              <a:t>Why it matters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3A73AE"/>
                </a:solidFill>
                <a:latin typeface="Canva Sans"/>
                <a:ea typeface="Canva Sans"/>
                <a:cs typeface="Canva Sans"/>
                <a:sym typeface="Canva Sans"/>
              </a:rPr>
              <a:t> High discounts are directly reducing profit margins.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362542" y="5231340"/>
            <a:ext cx="2676058" cy="6889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 dirty="0">
                <a:solidFill>
                  <a:srgbClr val="3A73A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Action 2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62542" y="6655961"/>
            <a:ext cx="15940683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3A73AE"/>
                </a:solidFill>
                <a:latin typeface="Canva Sans"/>
                <a:ea typeface="Canva Sans"/>
                <a:cs typeface="Canva Sans"/>
                <a:sym typeface="Canva Sans"/>
              </a:rPr>
              <a:t>Why it matters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3A73AE"/>
                </a:solidFill>
                <a:latin typeface="Canva Sans"/>
                <a:ea typeface="Canva Sans"/>
                <a:cs typeface="Canva Sans"/>
                <a:sym typeface="Canva Sans"/>
              </a:rPr>
              <a:t> Technology products and the West region offer strong growth opportunities.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-185812" y="2932418"/>
            <a:ext cx="8879947" cy="537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1">
                <a:solidFill>
                  <a:srgbClr val="3A73A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Reduce excessive discounting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82505" y="6025090"/>
            <a:ext cx="9682150" cy="1661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1">
                <a:solidFill>
                  <a:srgbClr val="3A73A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Focus on high-performing products and regions</a:t>
            </a:r>
          </a:p>
          <a:p>
            <a:pPr algn="ctr">
              <a:lnSpc>
                <a:spcPts val="4480"/>
              </a:lnSpc>
            </a:pPr>
            <a:endParaRPr lang="en-US" sz="3200" b="1">
              <a:solidFill>
                <a:srgbClr val="3A73AE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ctr">
              <a:lnSpc>
                <a:spcPts val="4480"/>
              </a:lnSpc>
            </a:pPr>
            <a:endParaRPr lang="en-US" sz="3200" b="1">
              <a:solidFill>
                <a:srgbClr val="3A73AE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-1362542" y="4123218"/>
            <a:ext cx="7441042" cy="6590268"/>
            <a:chOff x="0" y="0"/>
            <a:chExt cx="9921390" cy="8787024"/>
          </a:xfrm>
        </p:grpSpPr>
        <p:sp>
          <p:nvSpPr>
            <p:cNvPr id="4" name="Freeform 4"/>
            <p:cNvSpPr/>
            <p:nvPr/>
          </p:nvSpPr>
          <p:spPr>
            <a:xfrm rot="-10800000" flipH="1" flipV="1">
              <a:off x="0" y="5594140"/>
              <a:ext cx="9921390" cy="3192884"/>
            </a:xfrm>
            <a:custGeom>
              <a:avLst/>
              <a:gdLst/>
              <a:ahLst/>
              <a:cxnLst/>
              <a:rect l="l" t="t" r="r" b="b"/>
              <a:pathLst>
                <a:path w="9921390" h="3192884">
                  <a:moveTo>
                    <a:pt x="9921390" y="3192884"/>
                  </a:moveTo>
                  <a:lnTo>
                    <a:pt x="0" y="3192884"/>
                  </a:lnTo>
                  <a:lnTo>
                    <a:pt x="0" y="0"/>
                  </a:lnTo>
                  <a:lnTo>
                    <a:pt x="9921390" y="0"/>
                  </a:lnTo>
                  <a:lnTo>
                    <a:pt x="9921390" y="3192884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5" name="Group 5"/>
            <p:cNvGrpSpPr/>
            <p:nvPr/>
          </p:nvGrpSpPr>
          <p:grpSpPr>
            <a:xfrm rot="-5400000">
              <a:off x="755161" y="1370491"/>
              <a:ext cx="3009241" cy="1257089"/>
              <a:chOff x="0" y="0"/>
              <a:chExt cx="406400" cy="16977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93C4F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 rot="-5400000">
              <a:off x="161273" y="3889360"/>
              <a:ext cx="4197018" cy="1257089"/>
              <a:chOff x="0" y="0"/>
              <a:chExt cx="566810" cy="16977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56681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566810" h="169771">
                    <a:moveTo>
                      <a:pt x="36361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566810" y="169771"/>
                    </a:lnTo>
                    <a:lnTo>
                      <a:pt x="363610" y="0"/>
                    </a:lnTo>
                    <a:close/>
                  </a:path>
                </a:pathLst>
              </a:custGeom>
              <a:solidFill>
                <a:srgbClr val="C2E1FE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01600" y="-57150"/>
                <a:ext cx="36361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 rot="-5400000">
              <a:off x="867105" y="581976"/>
              <a:ext cx="1999035" cy="835083"/>
              <a:chOff x="0" y="0"/>
              <a:chExt cx="406400" cy="169771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3A73AE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sp>
          <p:nvSpPr>
            <p:cNvPr id="14" name="Freeform 14"/>
            <p:cNvSpPr/>
            <p:nvPr/>
          </p:nvSpPr>
          <p:spPr>
            <a:xfrm>
              <a:off x="962259" y="999518"/>
              <a:ext cx="1926067" cy="3192884"/>
            </a:xfrm>
            <a:custGeom>
              <a:avLst/>
              <a:gdLst/>
              <a:ahLst/>
              <a:cxnLst/>
              <a:rect l="l" t="t" r="r" b="b"/>
              <a:pathLst>
                <a:path w="1926067" h="3192884">
                  <a:moveTo>
                    <a:pt x="0" y="0"/>
                  </a:moveTo>
                  <a:lnTo>
                    <a:pt x="1926067" y="0"/>
                  </a:lnTo>
                  <a:lnTo>
                    <a:pt x="1926067" y="3192883"/>
                  </a:lnTo>
                  <a:lnTo>
                    <a:pt x="0" y="3192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r="-415111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209500" y="-426486"/>
            <a:ext cx="7441042" cy="6590268"/>
            <a:chOff x="0" y="0"/>
            <a:chExt cx="9921390" cy="8787024"/>
          </a:xfrm>
        </p:grpSpPr>
        <p:sp>
          <p:nvSpPr>
            <p:cNvPr id="16" name="Freeform 16"/>
            <p:cNvSpPr/>
            <p:nvPr/>
          </p:nvSpPr>
          <p:spPr>
            <a:xfrm flipH="1" flipV="1">
              <a:off x="0" y="0"/>
              <a:ext cx="9921390" cy="3192884"/>
            </a:xfrm>
            <a:custGeom>
              <a:avLst/>
              <a:gdLst/>
              <a:ahLst/>
              <a:cxnLst/>
              <a:rect l="l" t="t" r="r" b="b"/>
              <a:pathLst>
                <a:path w="9921390" h="3192884">
                  <a:moveTo>
                    <a:pt x="9921390" y="3192884"/>
                  </a:moveTo>
                  <a:lnTo>
                    <a:pt x="0" y="3192884"/>
                  </a:lnTo>
                  <a:lnTo>
                    <a:pt x="0" y="0"/>
                  </a:lnTo>
                  <a:lnTo>
                    <a:pt x="9921390" y="0"/>
                  </a:lnTo>
                  <a:lnTo>
                    <a:pt x="9921390" y="3192884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17" name="Group 17"/>
            <p:cNvGrpSpPr/>
            <p:nvPr/>
          </p:nvGrpSpPr>
          <p:grpSpPr>
            <a:xfrm rot="5400000">
              <a:off x="6156988" y="6159444"/>
              <a:ext cx="3009241" cy="1257089"/>
              <a:chOff x="0" y="0"/>
              <a:chExt cx="406400" cy="169771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93C4F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 rot="5400000">
              <a:off x="5563099" y="3640576"/>
              <a:ext cx="4197018" cy="1257089"/>
              <a:chOff x="0" y="0"/>
              <a:chExt cx="566810" cy="169771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56681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566810" h="169771">
                    <a:moveTo>
                      <a:pt x="36361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566810" y="169771"/>
                    </a:lnTo>
                    <a:lnTo>
                      <a:pt x="363610" y="0"/>
                    </a:lnTo>
                    <a:close/>
                  </a:path>
                </a:pathLst>
              </a:custGeom>
              <a:solidFill>
                <a:srgbClr val="C2E1FE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01600" y="-57150"/>
                <a:ext cx="36361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 rot="5400000">
              <a:off x="7055249" y="7369965"/>
              <a:ext cx="1999035" cy="835083"/>
              <a:chOff x="0" y="0"/>
              <a:chExt cx="406400" cy="169771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40640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69771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169771"/>
                    </a:lnTo>
                    <a:lnTo>
                      <a:pt x="406400" y="169771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3A73AE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01600" y="-57150"/>
                <a:ext cx="203200" cy="226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53"/>
                  </a:lnSpc>
                </a:pPr>
                <a:endParaRPr/>
              </a:p>
            </p:txBody>
          </p:sp>
        </p:grpSp>
        <p:sp>
          <p:nvSpPr>
            <p:cNvPr id="26" name="Freeform 26"/>
            <p:cNvSpPr/>
            <p:nvPr/>
          </p:nvSpPr>
          <p:spPr>
            <a:xfrm rot="-10800000">
              <a:off x="7033064" y="4594623"/>
              <a:ext cx="1926067" cy="3192884"/>
            </a:xfrm>
            <a:custGeom>
              <a:avLst/>
              <a:gdLst/>
              <a:ahLst/>
              <a:cxnLst/>
              <a:rect l="l" t="t" r="r" b="b"/>
              <a:pathLst>
                <a:path w="1926067" h="3192884">
                  <a:moveTo>
                    <a:pt x="0" y="0"/>
                  </a:moveTo>
                  <a:lnTo>
                    <a:pt x="1926067" y="0"/>
                  </a:lnTo>
                  <a:lnTo>
                    <a:pt x="1926067" y="3192883"/>
                  </a:lnTo>
                  <a:lnTo>
                    <a:pt x="0" y="3192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r="-415111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7" name="Freeform 27"/>
          <p:cNvSpPr/>
          <p:nvPr/>
        </p:nvSpPr>
        <p:spPr>
          <a:xfrm rot="-1947032">
            <a:off x="-34300695" y="5351059"/>
            <a:ext cx="41083903" cy="7247578"/>
          </a:xfrm>
          <a:custGeom>
            <a:avLst/>
            <a:gdLst/>
            <a:ahLst/>
            <a:cxnLst/>
            <a:rect l="l" t="t" r="r" b="b"/>
            <a:pathLst>
              <a:path w="41083903" h="7247578">
                <a:moveTo>
                  <a:pt x="0" y="0"/>
                </a:moveTo>
                <a:lnTo>
                  <a:pt x="41083903" y="0"/>
                </a:lnTo>
                <a:lnTo>
                  <a:pt x="41083903" y="7247578"/>
                </a:lnTo>
                <a:lnTo>
                  <a:pt x="0" y="724757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8" name="Freeform 28"/>
          <p:cNvSpPr/>
          <p:nvPr/>
        </p:nvSpPr>
        <p:spPr>
          <a:xfrm rot="-1947032" flipH="1" flipV="1">
            <a:off x="11504792" y="-2311637"/>
            <a:ext cx="41083903" cy="7247578"/>
          </a:xfrm>
          <a:custGeom>
            <a:avLst/>
            <a:gdLst/>
            <a:ahLst/>
            <a:cxnLst/>
            <a:rect l="l" t="t" r="r" b="b"/>
            <a:pathLst>
              <a:path w="41083903" h="7247578">
                <a:moveTo>
                  <a:pt x="41083903" y="7247578"/>
                </a:moveTo>
                <a:lnTo>
                  <a:pt x="0" y="7247578"/>
                </a:lnTo>
                <a:lnTo>
                  <a:pt x="0" y="0"/>
                </a:lnTo>
                <a:lnTo>
                  <a:pt x="41083903" y="0"/>
                </a:lnTo>
                <a:lnTo>
                  <a:pt x="41083903" y="7247578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Box 29"/>
          <p:cNvSpPr txBox="1"/>
          <p:nvPr/>
        </p:nvSpPr>
        <p:spPr>
          <a:xfrm>
            <a:off x="1182505" y="3644544"/>
            <a:ext cx="15922990" cy="1971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6141"/>
              </a:lnSpc>
            </a:pPr>
            <a:r>
              <a:rPr lang="en-US" sz="11132" b="1">
                <a:solidFill>
                  <a:srgbClr val="3A73AE"/>
                </a:solidFill>
                <a:latin typeface="TT Fors Bold"/>
                <a:ea typeface="TT Fors Bold"/>
                <a:cs typeface="TT Fors Bold"/>
                <a:sym typeface="TT Fors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294</Words>
  <Application>Microsoft Office PowerPoint</Application>
  <PresentationFormat>Custom</PresentationFormat>
  <Paragraphs>56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Canva Sans Bold</vt:lpstr>
      <vt:lpstr>Canva Sans</vt:lpstr>
      <vt:lpstr>Arial</vt:lpstr>
      <vt:lpstr>Calibri</vt:lpstr>
      <vt:lpstr>TT Fors Bold</vt:lpstr>
      <vt:lpstr>TT Fors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Performance Snapshot</dc:title>
  <cp:lastModifiedBy>MANOJ DHAGE</cp:lastModifiedBy>
  <cp:revision>2</cp:revision>
  <dcterms:created xsi:type="dcterms:W3CDTF">2006-08-16T00:00:00Z</dcterms:created>
  <dcterms:modified xsi:type="dcterms:W3CDTF">2026-03-07T03:24:39Z</dcterms:modified>
  <dc:identifier>DAHDFf9xxco</dc:identifier>
</cp:coreProperties>
</file>